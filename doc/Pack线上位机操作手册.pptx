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83" r:id="rId3"/>
    <p:sldId id="262" r:id="rId4"/>
    <p:sldId id="284" r:id="rId5"/>
    <p:sldId id="285" r:id="rId6"/>
    <p:sldId id="286" r:id="rId7"/>
    <p:sldId id="287" r:id="rId8"/>
    <p:sldId id="288" r:id="rId9"/>
    <p:sldId id="289" r:id="rId10"/>
    <p:sldId id="290" r:id="rId11"/>
    <p:sldId id="291" r:id="rId12"/>
    <p:sldId id="292" r:id="rId13"/>
    <p:sldId id="293" r:id="rId14"/>
    <p:sldId id="294" r:id="rId15"/>
    <p:sldId id="295" r:id="rId16"/>
    <p:sldId id="296" r:id="rId17"/>
    <p:sldId id="297" r:id="rId18"/>
    <p:sldId id="298" r:id="rId19"/>
    <p:sldId id="299" r:id="rId20"/>
    <p:sldId id="300" r:id="rId21"/>
    <p:sldId id="301" r:id="rId22"/>
    <p:sldId id="302" r:id="rId23"/>
    <p:sldId id="304" r:id="rId24"/>
    <p:sldId id="303" r:id="rId25"/>
    <p:sldId id="305" r:id="rId26"/>
    <p:sldId id="306" r:id="rId27"/>
    <p:sldId id="307" r:id="rId28"/>
    <p:sldId id="308" r:id="rId29"/>
    <p:sldId id="309" r:id="rId30"/>
    <p:sldId id="265" r:id="rId31"/>
  </p:sldIdLst>
  <p:sldSz cx="13004800" cy="9753600"/>
  <p:notesSz cx="6858000" cy="9144000"/>
  <p:custDataLst>
    <p:tags r:id="rId33"/>
  </p:custData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iti SC Medium"/>
      </a:defRPr>
    </a:lvl1pPr>
    <a:lvl2pPr marL="0" marR="0" indent="228600" algn="ctr" defTabSz="5842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iti SC Medium"/>
      </a:defRPr>
    </a:lvl2pPr>
    <a:lvl3pPr marL="0" marR="0" indent="457200" algn="ctr" defTabSz="5842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iti SC Medium"/>
      </a:defRPr>
    </a:lvl3pPr>
    <a:lvl4pPr marL="0" marR="0" indent="685800" algn="ctr" defTabSz="5842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iti SC Medium"/>
      </a:defRPr>
    </a:lvl4pPr>
    <a:lvl5pPr marL="0" marR="0" indent="914400" algn="ctr" defTabSz="5842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iti SC Medium"/>
      </a:defRPr>
    </a:lvl5pPr>
    <a:lvl6pPr marL="0" marR="0" indent="1143000" algn="ctr" defTabSz="5842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iti SC Medium"/>
      </a:defRPr>
    </a:lvl6pPr>
    <a:lvl7pPr marL="0" marR="0" indent="1371600" algn="ctr" defTabSz="5842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iti SC Medium"/>
      </a:defRPr>
    </a:lvl7pPr>
    <a:lvl8pPr marL="0" marR="0" indent="1600200" algn="ctr" defTabSz="5842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iti SC Medium"/>
      </a:defRPr>
    </a:lvl8pPr>
    <a:lvl9pPr marL="0" marR="0" indent="1828800" algn="ctr" defTabSz="5842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iti SC Medium"/>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2" d="100"/>
          <a:sy n="122" d="100"/>
        </p:scale>
        <p:origin x="1422"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 name="Shape 36"/>
          <p:cNvSpPr>
            <a:spLocks noGrp="1" noRot="1" noChangeAspect="1"/>
          </p:cNvSpPr>
          <p:nvPr>
            <p:ph type="sldImg"/>
          </p:nvPr>
        </p:nvSpPr>
        <p:spPr>
          <a:xfrm>
            <a:off x="1143000" y="685800"/>
            <a:ext cx="4572000" cy="3429000"/>
          </a:xfrm>
          <a:prstGeom prst="rect">
            <a:avLst/>
          </a:prstGeom>
        </p:spPr>
        <p:txBody>
          <a:bodyPr/>
          <a:lstStyle/>
          <a:p>
            <a:endParaRPr/>
          </a:p>
        </p:txBody>
      </p:sp>
      <p:sp>
        <p:nvSpPr>
          <p:cNvPr id="37" name="Shape 3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8000"/>
      </a:lnSpc>
      <a:defRPr sz="2200">
        <a:latin typeface="Heiti SC Light"/>
        <a:ea typeface="Heiti SC Light"/>
        <a:cs typeface="Heiti SC Light"/>
        <a:sym typeface="Heiti SC Light"/>
      </a:defRPr>
    </a:lvl1pPr>
    <a:lvl2pPr indent="228600" defTabSz="457200" latinLnBrk="0">
      <a:lnSpc>
        <a:spcPct val="118000"/>
      </a:lnSpc>
      <a:defRPr sz="2200">
        <a:latin typeface="Heiti SC Light"/>
        <a:ea typeface="Heiti SC Light"/>
        <a:cs typeface="Heiti SC Light"/>
        <a:sym typeface="Heiti SC Light"/>
      </a:defRPr>
    </a:lvl2pPr>
    <a:lvl3pPr indent="457200" defTabSz="457200" latinLnBrk="0">
      <a:lnSpc>
        <a:spcPct val="118000"/>
      </a:lnSpc>
      <a:defRPr sz="2200">
        <a:latin typeface="Heiti SC Light"/>
        <a:ea typeface="Heiti SC Light"/>
        <a:cs typeface="Heiti SC Light"/>
        <a:sym typeface="Heiti SC Light"/>
      </a:defRPr>
    </a:lvl3pPr>
    <a:lvl4pPr indent="685800" defTabSz="457200" latinLnBrk="0">
      <a:lnSpc>
        <a:spcPct val="118000"/>
      </a:lnSpc>
      <a:defRPr sz="2200">
        <a:latin typeface="Heiti SC Light"/>
        <a:ea typeface="Heiti SC Light"/>
        <a:cs typeface="Heiti SC Light"/>
        <a:sym typeface="Heiti SC Light"/>
      </a:defRPr>
    </a:lvl4pPr>
    <a:lvl5pPr indent="914400" defTabSz="457200" latinLnBrk="0">
      <a:lnSpc>
        <a:spcPct val="118000"/>
      </a:lnSpc>
      <a:defRPr sz="2200">
        <a:latin typeface="Heiti SC Light"/>
        <a:ea typeface="Heiti SC Light"/>
        <a:cs typeface="Heiti SC Light"/>
        <a:sym typeface="Heiti SC Light"/>
      </a:defRPr>
    </a:lvl5pPr>
    <a:lvl6pPr indent="1143000" defTabSz="457200" latinLnBrk="0">
      <a:lnSpc>
        <a:spcPct val="118000"/>
      </a:lnSpc>
      <a:defRPr sz="2200">
        <a:latin typeface="Heiti SC Light"/>
        <a:ea typeface="Heiti SC Light"/>
        <a:cs typeface="Heiti SC Light"/>
        <a:sym typeface="Heiti SC Light"/>
      </a:defRPr>
    </a:lvl6pPr>
    <a:lvl7pPr indent="1371600" defTabSz="457200" latinLnBrk="0">
      <a:lnSpc>
        <a:spcPct val="118000"/>
      </a:lnSpc>
      <a:defRPr sz="2200">
        <a:latin typeface="Heiti SC Light"/>
        <a:ea typeface="Heiti SC Light"/>
        <a:cs typeface="Heiti SC Light"/>
        <a:sym typeface="Heiti SC Light"/>
      </a:defRPr>
    </a:lvl7pPr>
    <a:lvl8pPr indent="1600200" defTabSz="457200" latinLnBrk="0">
      <a:lnSpc>
        <a:spcPct val="118000"/>
      </a:lnSpc>
      <a:defRPr sz="2200">
        <a:latin typeface="Heiti SC Light"/>
        <a:ea typeface="Heiti SC Light"/>
        <a:cs typeface="Heiti SC Light"/>
        <a:sym typeface="Heiti SC Light"/>
      </a:defRPr>
    </a:lvl8pPr>
    <a:lvl9pPr indent="1828800" defTabSz="457200" latinLnBrk="0">
      <a:lnSpc>
        <a:spcPct val="118000"/>
      </a:lnSpc>
      <a:defRPr sz="2200">
        <a:latin typeface="Heiti SC Light"/>
        <a:ea typeface="Heiti SC Light"/>
        <a:cs typeface="Heiti SC Light"/>
        <a:sym typeface="Heiti SC Light"/>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标题与副标题">
    <p:bg>
      <p:bgPr>
        <a:solidFill>
          <a:srgbClr val="1D2086"/>
        </a:solidFill>
        <a:effectLst/>
      </p:bgPr>
    </p:bg>
    <p:spTree>
      <p:nvGrpSpPr>
        <p:cNvPr id="1" name=""/>
        <p:cNvGrpSpPr/>
        <p:nvPr/>
      </p:nvGrpSpPr>
      <p:grpSpPr>
        <a:xfrm>
          <a:off x="0" y="0"/>
          <a:ext cx="0" cy="0"/>
          <a:chOff x="0" y="0"/>
          <a:chExt cx="0" cy="0"/>
        </a:xfrm>
      </p:grpSpPr>
      <p:pic>
        <p:nvPicPr>
          <p:cNvPr id="12" name="图像" descr="图像"/>
          <p:cNvPicPr>
            <a:picLocks noChangeAspect="1"/>
          </p:cNvPicPr>
          <p:nvPr userDrawn="1"/>
        </p:nvPicPr>
        <p:blipFill>
          <a:blip r:embed="rId2"/>
          <a:stretch>
            <a:fillRect/>
          </a:stretch>
        </p:blipFill>
        <p:spPr>
          <a:xfrm>
            <a:off x="0" y="0"/>
            <a:ext cx="13004800" cy="9753588"/>
          </a:xfrm>
          <a:prstGeom prst="rect">
            <a:avLst/>
          </a:prstGeom>
          <a:ln w="12700">
            <a:miter lim="400000"/>
            <a:headEnd/>
            <a:tailEnd/>
          </a:ln>
        </p:spPr>
      </p:pic>
      <p:sp>
        <p:nvSpPr>
          <p:cNvPr id="14"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3" name="图片 2" descr="孟腾智能装备logo白色"/>
          <p:cNvPicPr>
            <a:picLocks noChangeAspect="1"/>
          </p:cNvPicPr>
          <p:nvPr userDrawn="1"/>
        </p:nvPicPr>
        <p:blipFill>
          <a:blip r:embed="rId3"/>
          <a:stretch>
            <a:fillRect/>
          </a:stretch>
        </p:blipFill>
        <p:spPr>
          <a:xfrm>
            <a:off x="10463530" y="412115"/>
            <a:ext cx="2327910" cy="486410"/>
          </a:xfrm>
          <a:prstGeom prst="rect">
            <a:avLst/>
          </a:prstGeom>
        </p:spPr>
      </p:pic>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空白1">
    <p:spTree>
      <p:nvGrpSpPr>
        <p:cNvPr id="1" name=""/>
        <p:cNvGrpSpPr/>
        <p:nvPr/>
      </p:nvGrpSpPr>
      <p:grpSpPr>
        <a:xfrm>
          <a:off x="0" y="0"/>
          <a:ext cx="0" cy="0"/>
          <a:chOff x="0" y="0"/>
          <a:chExt cx="0" cy="0"/>
        </a:xfrm>
      </p:grpSpPr>
      <p:sp>
        <p:nvSpPr>
          <p:cNvPr id="21"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3" name="图片 2" descr="孟腾智能装备logo白色"/>
          <p:cNvPicPr>
            <a:picLocks noChangeAspect="1"/>
          </p:cNvPicPr>
          <p:nvPr userDrawn="1"/>
        </p:nvPicPr>
        <p:blipFill>
          <a:blip r:embed="rId2"/>
          <a:stretch>
            <a:fillRect/>
          </a:stretch>
        </p:blipFill>
        <p:spPr>
          <a:xfrm>
            <a:off x="10463530" y="412115"/>
            <a:ext cx="2327910" cy="486410"/>
          </a:xfrm>
          <a:prstGeom prst="rect">
            <a:avLst/>
          </a:prstGeom>
        </p:spPr>
      </p:pic>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空白2">
    <p:bg>
      <p:bgPr>
        <a:solidFill>
          <a:srgbClr val="FFFFFF"/>
        </a:solidFill>
        <a:effectLst/>
      </p:bgPr>
    </p:bg>
    <p:spTree>
      <p:nvGrpSpPr>
        <p:cNvPr id="1" name=""/>
        <p:cNvGrpSpPr/>
        <p:nvPr/>
      </p:nvGrpSpPr>
      <p:grpSpPr>
        <a:xfrm>
          <a:off x="0" y="0"/>
          <a:ext cx="0" cy="0"/>
          <a:chOff x="0" y="0"/>
          <a:chExt cx="0" cy="0"/>
        </a:xfrm>
      </p:grpSpPr>
      <p:pic>
        <p:nvPicPr>
          <p:cNvPr id="28" name="图像" descr="图像"/>
          <p:cNvPicPr>
            <a:picLocks noChangeAspect="1"/>
          </p:cNvPicPr>
          <p:nvPr userDrawn="1"/>
        </p:nvPicPr>
        <p:blipFill>
          <a:blip r:embed="rId2"/>
          <a:stretch>
            <a:fillRect/>
          </a:stretch>
        </p:blipFill>
        <p:spPr>
          <a:xfrm>
            <a:off x="-1" y="-16145"/>
            <a:ext cx="13004801" cy="1142349"/>
          </a:xfrm>
          <a:prstGeom prst="rect">
            <a:avLst/>
          </a:prstGeom>
          <a:ln w="12700">
            <a:miter lim="400000"/>
            <a:headEnd/>
            <a:tailEnd/>
          </a:ln>
        </p:spPr>
      </p:pic>
      <p:sp>
        <p:nvSpPr>
          <p:cNvPr id="30"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sp>
        <p:nvSpPr>
          <p:cNvPr id="6" name="等腰三角形 5"/>
          <p:cNvSpPr/>
          <p:nvPr userDrawn="1"/>
        </p:nvSpPr>
        <p:spPr>
          <a:xfrm rot="5400000">
            <a:off x="189600" y="427284"/>
            <a:ext cx="482959" cy="387171"/>
          </a:xfrm>
          <a:prstGeom prst="triangle">
            <a:avLst/>
          </a:prstGeom>
          <a:noFill/>
          <a:ln>
            <a:solidFill>
              <a:srgbClr val="1C3259"/>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chemeClr val="bg1"/>
              </a:solidFill>
              <a:effectLst/>
              <a:uLnTx/>
              <a:uFillTx/>
              <a:latin typeface="Arial" panose="020B0604020202020204"/>
              <a:ea typeface="微软雅黑" panose="020B0503020204020204" charset="-122"/>
              <a:cs typeface="+mn-cs"/>
            </a:endParaRPr>
          </a:p>
        </p:txBody>
      </p:sp>
      <p:sp>
        <p:nvSpPr>
          <p:cNvPr id="7" name="等腰三角形 6"/>
          <p:cNvSpPr/>
          <p:nvPr userDrawn="1"/>
        </p:nvSpPr>
        <p:spPr>
          <a:xfrm rot="5400000">
            <a:off x="330864" y="427284"/>
            <a:ext cx="482959" cy="387171"/>
          </a:xfrm>
          <a:prstGeom prst="triangle">
            <a:avLst/>
          </a:prstGeom>
          <a:noFill/>
          <a:ln>
            <a:solidFill>
              <a:srgbClr val="1C3259"/>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srgbClr val="1C3259"/>
              </a:solidFill>
              <a:effectLst/>
              <a:uLnTx/>
              <a:uFillTx/>
              <a:latin typeface="Arial" panose="020B0604020202020204"/>
              <a:ea typeface="微软雅黑" panose="020B0503020204020204" charset="-122"/>
              <a:cs typeface="+mn-cs"/>
            </a:endParaRPr>
          </a:p>
        </p:txBody>
      </p:sp>
      <p:pic>
        <p:nvPicPr>
          <p:cNvPr id="3" name="图片 2" descr="孟腾智能装备logo"/>
          <p:cNvPicPr>
            <a:picLocks noChangeAspect="1"/>
          </p:cNvPicPr>
          <p:nvPr userDrawn="1"/>
        </p:nvPicPr>
        <p:blipFill>
          <a:blip r:embed="rId3"/>
          <a:stretch>
            <a:fillRect/>
          </a:stretch>
        </p:blipFill>
        <p:spPr>
          <a:xfrm>
            <a:off x="10464800" y="358775"/>
            <a:ext cx="2324735" cy="485775"/>
          </a:xfrm>
          <a:prstGeom prst="rect">
            <a:avLst/>
          </a:prstGeom>
        </p:spPr>
      </p:pic>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1_空白2">
    <p:bg>
      <p:bgPr>
        <a:solidFill>
          <a:srgbClr val="FFFFFF"/>
        </a:solidFill>
        <a:effectLst/>
      </p:bgPr>
    </p:bg>
    <p:spTree>
      <p:nvGrpSpPr>
        <p:cNvPr id="1" name=""/>
        <p:cNvGrpSpPr/>
        <p:nvPr/>
      </p:nvGrpSpPr>
      <p:grpSpPr>
        <a:xfrm>
          <a:off x="0" y="0"/>
          <a:ext cx="0" cy="0"/>
          <a:chOff x="0" y="0"/>
          <a:chExt cx="0" cy="0"/>
        </a:xfrm>
      </p:grpSpPr>
      <p:pic>
        <p:nvPicPr>
          <p:cNvPr id="28" name="图像" descr="图像"/>
          <p:cNvPicPr>
            <a:picLocks noChangeAspect="1"/>
          </p:cNvPicPr>
          <p:nvPr userDrawn="1"/>
        </p:nvPicPr>
        <p:blipFill>
          <a:blip r:embed="rId2"/>
          <a:stretch>
            <a:fillRect/>
          </a:stretch>
        </p:blipFill>
        <p:spPr>
          <a:xfrm>
            <a:off x="-1" y="-16145"/>
            <a:ext cx="13004801" cy="1142349"/>
          </a:xfrm>
          <a:prstGeom prst="rect">
            <a:avLst/>
          </a:prstGeom>
          <a:ln w="12700">
            <a:miter lim="400000"/>
            <a:headEnd/>
            <a:tailEnd/>
          </a:ln>
        </p:spPr>
      </p:pic>
      <p:sp>
        <p:nvSpPr>
          <p:cNvPr id="30" name="幻灯片编号"/>
          <p:cNvSpPr txBox="1">
            <a:spLocks noGrp="1"/>
          </p:cNvSpPr>
          <p:nvPr>
            <p:ph type="sldNum" sz="quarter" idx="2"/>
          </p:nvPr>
        </p:nvSpPr>
        <p:spPr>
          <a:prstGeom prst="rect">
            <a:avLst/>
          </a:prstGeom>
        </p:spPr>
        <p:txBody>
          <a:bodyPr/>
          <a:lstStyle/>
          <a:p>
            <a:fld id="{86CB4B4D-7CA3-9044-876B-883B54F8677D}" type="slidenum">
              <a:rPr/>
              <a:t>‹#›</a:t>
            </a:fld>
            <a:endParaRPr/>
          </a:p>
        </p:txBody>
      </p:sp>
      <p:pic>
        <p:nvPicPr>
          <p:cNvPr id="3" name="图片 2" descr="孟腾智能装备logo"/>
          <p:cNvPicPr>
            <a:picLocks noChangeAspect="1"/>
          </p:cNvPicPr>
          <p:nvPr userDrawn="1"/>
        </p:nvPicPr>
        <p:blipFill>
          <a:blip r:embed="rId3"/>
          <a:stretch>
            <a:fillRect/>
          </a:stretch>
        </p:blipFill>
        <p:spPr>
          <a:xfrm>
            <a:off x="10464800" y="358775"/>
            <a:ext cx="2324735" cy="485775"/>
          </a:xfrm>
          <a:prstGeom prst="rect">
            <a:avLst/>
          </a:prstGeom>
        </p:spPr>
      </p:pic>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D2087"/>
        </a:solidFill>
        <a:effectLst/>
      </p:bgPr>
    </p:bg>
    <p:spTree>
      <p:nvGrpSpPr>
        <p:cNvPr id="1" name=""/>
        <p:cNvGrpSpPr/>
        <p:nvPr/>
      </p:nvGrpSpPr>
      <p:grpSpPr>
        <a:xfrm>
          <a:off x="0" y="0"/>
          <a:ext cx="0" cy="0"/>
          <a:chOff x="0" y="0"/>
          <a:chExt cx="0" cy="0"/>
        </a:xfrm>
      </p:grpSpPr>
      <p:pic>
        <p:nvPicPr>
          <p:cNvPr id="2" name="bg2-01.jpg" descr="bg2-01.jpg"/>
          <p:cNvPicPr>
            <a:picLocks noChangeAspect="1"/>
          </p:cNvPicPr>
          <p:nvPr/>
        </p:nvPicPr>
        <p:blipFill>
          <a:blip r:embed="rId6"/>
          <a:stretch>
            <a:fillRect/>
          </a:stretch>
        </p:blipFill>
        <p:spPr>
          <a:xfrm>
            <a:off x="-76200" y="-50039"/>
            <a:ext cx="13140000" cy="9853461"/>
          </a:xfrm>
          <a:prstGeom prst="rect">
            <a:avLst/>
          </a:prstGeom>
          <a:ln w="12700">
            <a:miter lim="400000"/>
            <a:headEnd/>
            <a:tailEnd/>
          </a:ln>
        </p:spPr>
      </p:pic>
      <p:sp>
        <p:nvSpPr>
          <p:cNvPr id="3" name="标题文本"/>
          <p:cNvSpPr txBox="1">
            <a:spLocks noGrp="1"/>
          </p:cNvSpPr>
          <p:nvPr>
            <p:ph type="title"/>
          </p:nvPr>
        </p:nvSpPr>
        <p:spPr>
          <a:xfrm>
            <a:off x="952500" y="254000"/>
            <a:ext cx="11099800" cy="2159000"/>
          </a:xfrm>
          <a:prstGeom prst="rect">
            <a:avLst/>
          </a:prstGeom>
          <a:ln w="12700">
            <a:miter lim="400000"/>
          </a:ln>
        </p:spPr>
        <p:txBody>
          <a:bodyPr lIns="50800" tIns="50800" rIns="50800" bIns="50800" anchor="ctr">
            <a:normAutofit/>
          </a:bodyPr>
          <a:lstStyle/>
          <a:p>
            <a:r>
              <a:t>标题文本</a:t>
            </a:r>
          </a:p>
        </p:txBody>
      </p:sp>
      <p:sp>
        <p:nvSpPr>
          <p:cNvPr id="4" name="正文级别 1…"/>
          <p:cNvSpPr txBox="1">
            <a:spLocks noGrp="1"/>
          </p:cNvSpPr>
          <p:nvPr>
            <p:ph type="body" idx="1"/>
          </p:nvPr>
        </p:nvSpPr>
        <p:spPr>
          <a:xfrm>
            <a:off x="952500" y="2590800"/>
            <a:ext cx="11099800" cy="6286500"/>
          </a:xfrm>
          <a:prstGeom prst="rect">
            <a:avLst/>
          </a:prstGeom>
          <a:ln w="12700">
            <a:miter lim="400000"/>
          </a:ln>
        </p:spPr>
        <p:txBody>
          <a:bodyPr lIns="50800" tIns="50800" rIns="50800" bIns="50800" anchor="ctr">
            <a:normAutofit/>
          </a:bodyPr>
          <a:lstStyle/>
          <a:p>
            <a:r>
              <a:t>正文级别 1</a:t>
            </a:r>
          </a:p>
          <a:p>
            <a:pPr lvl="1"/>
            <a:r>
              <a:t>正文级别 2</a:t>
            </a:r>
          </a:p>
          <a:p>
            <a:pPr lvl="2"/>
            <a:r>
              <a:t>正文级别 3</a:t>
            </a:r>
          </a:p>
          <a:p>
            <a:pPr lvl="3"/>
            <a:r>
              <a:t>正文级别 4</a:t>
            </a:r>
          </a:p>
          <a:p>
            <a:pPr lvl="4"/>
            <a:r>
              <a:t>正文级别 5</a:t>
            </a:r>
          </a:p>
        </p:txBody>
      </p:sp>
      <p:sp>
        <p:nvSpPr>
          <p:cNvPr id="5" name="幻灯片编号"/>
          <p:cNvSpPr txBox="1">
            <a:spLocks noGrp="1"/>
          </p:cNvSpPr>
          <p:nvPr>
            <p:ph type="sldNum" sz="quarter" idx="2"/>
          </p:nvPr>
        </p:nvSpPr>
        <p:spPr>
          <a:xfrm>
            <a:off x="6329290" y="9296400"/>
            <a:ext cx="339447" cy="298705"/>
          </a:xfrm>
          <a:prstGeom prst="rect">
            <a:avLst/>
          </a:prstGeom>
          <a:ln w="12700">
            <a:miter lim="400000"/>
          </a:ln>
        </p:spPr>
        <p:txBody>
          <a:bodyPr wrap="none" lIns="50800" tIns="50800" rIns="50800" bIns="50800">
            <a:spAutoFit/>
          </a:bodyPr>
          <a:lstStyle>
            <a:lvl1pPr>
              <a:defRPr sz="1600">
                <a:latin typeface="Heiti SC Light"/>
                <a:ea typeface="Heiti SC Light"/>
                <a:cs typeface="Heiti SC Light"/>
                <a:sym typeface="Heiti SC Light"/>
              </a:defRPr>
            </a:lvl1p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txStyles>
    <p:titleStyle>
      <a:lvl1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iti SC Medium"/>
        </a:defRPr>
      </a:lvl1pPr>
      <a:lvl2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iti SC Medium"/>
        </a:defRPr>
      </a:lvl2pPr>
      <a:lvl3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iti SC Medium"/>
        </a:defRPr>
      </a:lvl3pPr>
      <a:lvl4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iti SC Medium"/>
        </a:defRPr>
      </a:lvl4pPr>
      <a:lvl5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iti SC Medium"/>
        </a:defRPr>
      </a:lvl5pPr>
      <a:lvl6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iti SC Medium"/>
        </a:defRPr>
      </a:lvl6pPr>
      <a:lvl7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iti SC Medium"/>
        </a:defRPr>
      </a:lvl7pPr>
      <a:lvl8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iti SC Medium"/>
        </a:defRPr>
      </a:lvl8pPr>
      <a:lvl9pPr marL="0" marR="0" indent="0" algn="ctr" defTabSz="584200" rtl="0" latinLnBrk="0">
        <a:lnSpc>
          <a:spcPct val="100000"/>
        </a:lnSpc>
        <a:spcBef>
          <a:spcPts val="0"/>
        </a:spcBef>
        <a:spcAft>
          <a:spcPts val="0"/>
        </a:spcAft>
        <a:buClrTx/>
        <a:buSzTx/>
        <a:buFontTx/>
        <a:buNone/>
        <a:defRPr sz="8000" b="0" i="0" u="none" strike="noStrike" cap="none" spc="0" baseline="0">
          <a:ln>
            <a:noFill/>
          </a:ln>
          <a:solidFill>
            <a:srgbClr val="000000"/>
          </a:solidFill>
          <a:uFillTx/>
          <a:latin typeface="+mn-lt"/>
          <a:ea typeface="+mn-ea"/>
          <a:cs typeface="+mn-cs"/>
          <a:sym typeface="Heiti SC Medium"/>
        </a:defRPr>
      </a:lvl9pPr>
    </p:titleStyle>
    <p:bodyStyle>
      <a:lvl1pPr marL="444500" marR="0" indent="-444500" algn="l" defTabSz="584200" rtl="0" latinLnBrk="0">
        <a:lnSpc>
          <a:spcPct val="100000"/>
        </a:lnSpc>
        <a:spcBef>
          <a:spcPts val="4200"/>
        </a:spcBef>
        <a:spcAft>
          <a:spcPts val="0"/>
        </a:spcAft>
        <a:buClrTx/>
        <a:buSzPct val="145000"/>
        <a:buFontTx/>
        <a:buChar char="•"/>
        <a:defRPr sz="3200" b="0" i="0" u="none" strike="noStrike" cap="none" spc="0" baseline="0">
          <a:ln>
            <a:noFill/>
          </a:ln>
          <a:solidFill>
            <a:srgbClr val="000000"/>
          </a:solidFill>
          <a:uFillTx/>
          <a:latin typeface="Heiti SC Light"/>
          <a:ea typeface="Heiti SC Light"/>
          <a:cs typeface="Heiti SC Light"/>
          <a:sym typeface="Heiti SC Light"/>
        </a:defRPr>
      </a:lvl1pPr>
      <a:lvl2pPr marL="889000" marR="0" indent="-444500" algn="l" defTabSz="584200" rtl="0" latinLnBrk="0">
        <a:lnSpc>
          <a:spcPct val="100000"/>
        </a:lnSpc>
        <a:spcBef>
          <a:spcPts val="4200"/>
        </a:spcBef>
        <a:spcAft>
          <a:spcPts val="0"/>
        </a:spcAft>
        <a:buClrTx/>
        <a:buSzPct val="145000"/>
        <a:buFontTx/>
        <a:buChar char="•"/>
        <a:defRPr sz="3200" b="0" i="0" u="none" strike="noStrike" cap="none" spc="0" baseline="0">
          <a:ln>
            <a:noFill/>
          </a:ln>
          <a:solidFill>
            <a:srgbClr val="000000"/>
          </a:solidFill>
          <a:uFillTx/>
          <a:latin typeface="Heiti SC Light"/>
          <a:ea typeface="Heiti SC Light"/>
          <a:cs typeface="Heiti SC Light"/>
          <a:sym typeface="Heiti SC Light"/>
        </a:defRPr>
      </a:lvl2pPr>
      <a:lvl3pPr marL="1333500" marR="0" indent="-444500" algn="l" defTabSz="584200" rtl="0" latinLnBrk="0">
        <a:lnSpc>
          <a:spcPct val="100000"/>
        </a:lnSpc>
        <a:spcBef>
          <a:spcPts val="4200"/>
        </a:spcBef>
        <a:spcAft>
          <a:spcPts val="0"/>
        </a:spcAft>
        <a:buClrTx/>
        <a:buSzPct val="145000"/>
        <a:buFontTx/>
        <a:buChar char="•"/>
        <a:defRPr sz="3200" b="0" i="0" u="none" strike="noStrike" cap="none" spc="0" baseline="0">
          <a:ln>
            <a:noFill/>
          </a:ln>
          <a:solidFill>
            <a:srgbClr val="000000"/>
          </a:solidFill>
          <a:uFillTx/>
          <a:latin typeface="Heiti SC Light"/>
          <a:ea typeface="Heiti SC Light"/>
          <a:cs typeface="Heiti SC Light"/>
          <a:sym typeface="Heiti SC Light"/>
        </a:defRPr>
      </a:lvl3pPr>
      <a:lvl4pPr marL="1778000" marR="0" indent="-444500" algn="l" defTabSz="584200" rtl="0" latinLnBrk="0">
        <a:lnSpc>
          <a:spcPct val="100000"/>
        </a:lnSpc>
        <a:spcBef>
          <a:spcPts val="4200"/>
        </a:spcBef>
        <a:spcAft>
          <a:spcPts val="0"/>
        </a:spcAft>
        <a:buClrTx/>
        <a:buSzPct val="145000"/>
        <a:buFontTx/>
        <a:buChar char="•"/>
        <a:defRPr sz="3200" b="0" i="0" u="none" strike="noStrike" cap="none" spc="0" baseline="0">
          <a:ln>
            <a:noFill/>
          </a:ln>
          <a:solidFill>
            <a:srgbClr val="000000"/>
          </a:solidFill>
          <a:uFillTx/>
          <a:latin typeface="Heiti SC Light"/>
          <a:ea typeface="Heiti SC Light"/>
          <a:cs typeface="Heiti SC Light"/>
          <a:sym typeface="Heiti SC Light"/>
        </a:defRPr>
      </a:lvl4pPr>
      <a:lvl5pPr marL="2222500" marR="0" indent="-444500" algn="l" defTabSz="584200" rtl="0" latinLnBrk="0">
        <a:lnSpc>
          <a:spcPct val="100000"/>
        </a:lnSpc>
        <a:spcBef>
          <a:spcPts val="4200"/>
        </a:spcBef>
        <a:spcAft>
          <a:spcPts val="0"/>
        </a:spcAft>
        <a:buClrTx/>
        <a:buSzPct val="145000"/>
        <a:buFontTx/>
        <a:buChar char="•"/>
        <a:defRPr sz="3200" b="0" i="0" u="none" strike="noStrike" cap="none" spc="0" baseline="0">
          <a:ln>
            <a:noFill/>
          </a:ln>
          <a:solidFill>
            <a:srgbClr val="000000"/>
          </a:solidFill>
          <a:uFillTx/>
          <a:latin typeface="Heiti SC Light"/>
          <a:ea typeface="Heiti SC Light"/>
          <a:cs typeface="Heiti SC Light"/>
          <a:sym typeface="Heiti SC Light"/>
        </a:defRPr>
      </a:lvl5pPr>
      <a:lvl6pPr marL="2667000" marR="0" indent="-444500" algn="l" defTabSz="584200" rtl="0" latinLnBrk="0">
        <a:lnSpc>
          <a:spcPct val="100000"/>
        </a:lnSpc>
        <a:spcBef>
          <a:spcPts val="4200"/>
        </a:spcBef>
        <a:spcAft>
          <a:spcPts val="0"/>
        </a:spcAft>
        <a:buClrTx/>
        <a:buSzPct val="145000"/>
        <a:buFontTx/>
        <a:buChar char="•"/>
        <a:defRPr sz="3200" b="0" i="0" u="none" strike="noStrike" cap="none" spc="0" baseline="0">
          <a:ln>
            <a:noFill/>
          </a:ln>
          <a:solidFill>
            <a:srgbClr val="000000"/>
          </a:solidFill>
          <a:uFillTx/>
          <a:latin typeface="Heiti SC Light"/>
          <a:ea typeface="Heiti SC Light"/>
          <a:cs typeface="Heiti SC Light"/>
          <a:sym typeface="Heiti SC Light"/>
        </a:defRPr>
      </a:lvl6pPr>
      <a:lvl7pPr marL="3111500" marR="0" indent="-444500" algn="l" defTabSz="584200" rtl="0" latinLnBrk="0">
        <a:lnSpc>
          <a:spcPct val="100000"/>
        </a:lnSpc>
        <a:spcBef>
          <a:spcPts val="4200"/>
        </a:spcBef>
        <a:spcAft>
          <a:spcPts val="0"/>
        </a:spcAft>
        <a:buClrTx/>
        <a:buSzPct val="145000"/>
        <a:buFontTx/>
        <a:buChar char="•"/>
        <a:defRPr sz="3200" b="0" i="0" u="none" strike="noStrike" cap="none" spc="0" baseline="0">
          <a:ln>
            <a:noFill/>
          </a:ln>
          <a:solidFill>
            <a:srgbClr val="000000"/>
          </a:solidFill>
          <a:uFillTx/>
          <a:latin typeface="Heiti SC Light"/>
          <a:ea typeface="Heiti SC Light"/>
          <a:cs typeface="Heiti SC Light"/>
          <a:sym typeface="Heiti SC Light"/>
        </a:defRPr>
      </a:lvl7pPr>
      <a:lvl8pPr marL="3556000" marR="0" indent="-444500" algn="l" defTabSz="584200" rtl="0" latinLnBrk="0">
        <a:lnSpc>
          <a:spcPct val="100000"/>
        </a:lnSpc>
        <a:spcBef>
          <a:spcPts val="4200"/>
        </a:spcBef>
        <a:spcAft>
          <a:spcPts val="0"/>
        </a:spcAft>
        <a:buClrTx/>
        <a:buSzPct val="145000"/>
        <a:buFontTx/>
        <a:buChar char="•"/>
        <a:defRPr sz="3200" b="0" i="0" u="none" strike="noStrike" cap="none" spc="0" baseline="0">
          <a:ln>
            <a:noFill/>
          </a:ln>
          <a:solidFill>
            <a:srgbClr val="000000"/>
          </a:solidFill>
          <a:uFillTx/>
          <a:latin typeface="Heiti SC Light"/>
          <a:ea typeface="Heiti SC Light"/>
          <a:cs typeface="Heiti SC Light"/>
          <a:sym typeface="Heiti SC Light"/>
        </a:defRPr>
      </a:lvl8pPr>
      <a:lvl9pPr marL="4000500" marR="0" indent="-444500" algn="l" defTabSz="584200" rtl="0" latinLnBrk="0">
        <a:lnSpc>
          <a:spcPct val="100000"/>
        </a:lnSpc>
        <a:spcBef>
          <a:spcPts val="4200"/>
        </a:spcBef>
        <a:spcAft>
          <a:spcPts val="0"/>
        </a:spcAft>
        <a:buClrTx/>
        <a:buSzPct val="145000"/>
        <a:buFontTx/>
        <a:buChar char="•"/>
        <a:defRPr sz="3200" b="0" i="0" u="none" strike="noStrike" cap="none" spc="0" baseline="0">
          <a:ln>
            <a:noFill/>
          </a:ln>
          <a:solidFill>
            <a:srgbClr val="000000"/>
          </a:solidFill>
          <a:uFillTx/>
          <a:latin typeface="Heiti SC Light"/>
          <a:ea typeface="Heiti SC Light"/>
          <a:cs typeface="Heiti SC Light"/>
          <a:sym typeface="Heiti SC Light"/>
        </a:defRPr>
      </a:lvl9pPr>
    </p:bodyStyle>
    <p:otherStyle>
      <a:lvl1pPr marL="0" marR="0" indent="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iti SC Light"/>
        </a:defRPr>
      </a:lvl1pPr>
      <a:lvl2pPr marL="0" marR="0" indent="2286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iti SC Light"/>
        </a:defRPr>
      </a:lvl2pPr>
      <a:lvl3pPr marL="0" marR="0" indent="4572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iti SC Light"/>
        </a:defRPr>
      </a:lvl3pPr>
      <a:lvl4pPr marL="0" marR="0" indent="6858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iti SC Light"/>
        </a:defRPr>
      </a:lvl4pPr>
      <a:lvl5pPr marL="0" marR="0" indent="9144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iti SC Light"/>
        </a:defRPr>
      </a:lvl5pPr>
      <a:lvl6pPr marL="0" marR="0" indent="11430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iti SC Light"/>
        </a:defRPr>
      </a:lvl6pPr>
      <a:lvl7pPr marL="0" marR="0" indent="13716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iti SC Light"/>
        </a:defRPr>
      </a:lvl7pPr>
      <a:lvl8pPr marL="0" marR="0" indent="16002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iti SC Light"/>
        </a:defRPr>
      </a:lvl8pPr>
      <a:lvl9pPr marL="0" marR="0" indent="1828800" algn="ctr" defTabSz="584200" latinLnBrk="0">
        <a:lnSpc>
          <a:spcPct val="100000"/>
        </a:lnSpc>
        <a:spcBef>
          <a:spcPts val="0"/>
        </a:spcBef>
        <a:spcAft>
          <a:spcPts val="0"/>
        </a:spcAft>
        <a:buClrTx/>
        <a:buSzTx/>
        <a:buFontTx/>
        <a:buNone/>
        <a:defRPr sz="1600" b="0" i="0" u="none" strike="noStrike" cap="none" spc="0" baseline="0">
          <a:ln>
            <a:noFill/>
          </a:ln>
          <a:solidFill>
            <a:schemeClr val="tx1"/>
          </a:solidFill>
          <a:uFillTx/>
          <a:latin typeface="+mn-lt"/>
          <a:ea typeface="+mn-ea"/>
          <a:cs typeface="+mn-cs"/>
          <a:sym typeface="Heiti SC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192.168.200.100/index.html" TargetMode="External"/><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孟腾ppt模版主标题"/>
          <p:cNvSpPr txBox="1"/>
          <p:nvPr/>
        </p:nvSpPr>
        <p:spPr>
          <a:xfrm>
            <a:off x="1820050" y="2854329"/>
            <a:ext cx="10270440" cy="1025922"/>
          </a:xfrm>
          <a:prstGeom prst="rect">
            <a:avLst/>
          </a:prstGeom>
          <a:ln w="12700">
            <a:miter lim="400000"/>
          </a:ln>
        </p:spPr>
        <p:txBody>
          <a:bodyPr wrap="none" lIns="50800" tIns="50800" rIns="50800" bIns="50800" anchor="ctr">
            <a:spAutoFit/>
          </a:bodyPr>
          <a:lstStyle>
            <a:lvl1pPr algn="l">
              <a:defRPr sz="4000">
                <a:solidFill>
                  <a:srgbClr val="FFFFFF"/>
                </a:solidFill>
              </a:defRPr>
            </a:lvl1pPr>
          </a:lstStyle>
          <a:p>
            <a:r>
              <a:rPr lang="en-US" altLang="zh-CN" sz="6000" b="1" dirty="0"/>
              <a:t>PACK</a:t>
            </a:r>
            <a:r>
              <a:rPr lang="zh-CN" altLang="en-US" sz="6000" b="1" dirty="0"/>
              <a:t>上位机软件操作使用说明</a:t>
            </a:r>
            <a:endParaRPr lang="en-US" altLang="zh-CN" sz="6000" b="1" dirty="0"/>
          </a:p>
        </p:txBody>
      </p:sp>
      <p:sp>
        <p:nvSpPr>
          <p:cNvPr id="40" name="使用时间及演讲人"/>
          <p:cNvSpPr txBox="1"/>
          <p:nvPr/>
        </p:nvSpPr>
        <p:spPr>
          <a:xfrm>
            <a:off x="10375011" y="3889838"/>
            <a:ext cx="1457130" cy="595035"/>
          </a:xfrm>
          <a:prstGeom prst="rect">
            <a:avLst/>
          </a:prstGeom>
          <a:ln w="12700">
            <a:miter lim="400000"/>
          </a:ln>
        </p:spPr>
        <p:txBody>
          <a:bodyPr wrap="none" lIns="50800" tIns="50800" rIns="50800" bIns="50800" anchor="ctr">
            <a:spAutoFit/>
          </a:bodyPr>
          <a:lstStyle>
            <a:lvl1pPr algn="l">
              <a:defRPr sz="1800">
                <a:solidFill>
                  <a:srgbClr val="FFFFFF"/>
                </a:solidFill>
              </a:defRPr>
            </a:lvl1pPr>
          </a:lstStyle>
          <a:p>
            <a:r>
              <a:rPr lang="en-US" sz="3200" dirty="0"/>
              <a:t>2024.12</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目录"/>
          <p:cNvSpPr txBox="1"/>
          <p:nvPr/>
        </p:nvSpPr>
        <p:spPr>
          <a:xfrm>
            <a:off x="1228513" y="2011680"/>
            <a:ext cx="1479550" cy="932180"/>
          </a:xfrm>
          <a:prstGeom prst="rect">
            <a:avLst/>
          </a:prstGeom>
          <a:ln w="12700">
            <a:miter lim="400000"/>
          </a:ln>
        </p:spPr>
        <p:txBody>
          <a:bodyPr wrap="none" lIns="50800" tIns="50800" rIns="50800" bIns="50800" anchor="ctr">
            <a:spAutoFit/>
          </a:bodyPr>
          <a:lstStyle>
            <a:lvl1pPr algn="l">
              <a:defRPr sz="2600">
                <a:solidFill>
                  <a:srgbClr val="FFFFFF"/>
                </a:solidFill>
              </a:defRPr>
            </a:lvl1pPr>
          </a:lstStyle>
          <a:p>
            <a:r>
              <a:rPr sz="5400" b="1"/>
              <a:t>目录</a:t>
            </a:r>
          </a:p>
        </p:txBody>
      </p:sp>
      <p:sp>
        <p:nvSpPr>
          <p:cNvPr id="44" name="公司简介"/>
          <p:cNvSpPr txBox="1"/>
          <p:nvPr/>
        </p:nvSpPr>
        <p:spPr>
          <a:xfrm>
            <a:off x="5134398" y="2943334"/>
            <a:ext cx="3432030" cy="502702"/>
          </a:xfrm>
          <a:prstGeom prst="rect">
            <a:avLst/>
          </a:prstGeom>
          <a:ln w="12700">
            <a:miter lim="400000"/>
          </a:ln>
        </p:spPr>
        <p:txBody>
          <a:bodyPr wrap="none" lIns="50800" tIns="50800" rIns="50800" bIns="50800" anchor="ctr">
            <a:spAutoFit/>
          </a:bodyPr>
          <a:lstStyle>
            <a:lvl1pPr algn="l">
              <a:defRPr sz="2600">
                <a:solidFill>
                  <a:srgbClr val="0CA967"/>
                </a:solidFill>
              </a:defRPr>
            </a:lvl1pPr>
          </a:lstStyle>
          <a:p>
            <a:r>
              <a:rPr lang="en-US" altLang="zh-CN" dirty="0">
                <a:solidFill>
                  <a:srgbClr val="FFFFFF"/>
                </a:solidFill>
              </a:rPr>
              <a:t>1. </a:t>
            </a:r>
            <a:r>
              <a:rPr lang="zh-CN" altLang="en-US" dirty="0">
                <a:solidFill>
                  <a:srgbClr val="FFFFFF"/>
                </a:solidFill>
              </a:rPr>
              <a:t>软件组成与网络拓扑</a:t>
            </a:r>
            <a:endParaRPr lang="zh-CN" dirty="0">
              <a:solidFill>
                <a:srgbClr val="FFFFFF"/>
              </a:solidFill>
            </a:endParaRPr>
          </a:p>
        </p:txBody>
      </p:sp>
      <p:sp>
        <p:nvSpPr>
          <p:cNvPr id="47" name="产品介绍"/>
          <p:cNvSpPr txBox="1"/>
          <p:nvPr/>
        </p:nvSpPr>
        <p:spPr>
          <a:xfrm>
            <a:off x="5134398" y="3599036"/>
            <a:ext cx="3432030" cy="502702"/>
          </a:xfrm>
          <a:prstGeom prst="rect">
            <a:avLst/>
          </a:prstGeom>
          <a:ln w="12700">
            <a:miter lim="400000"/>
          </a:ln>
        </p:spPr>
        <p:txBody>
          <a:bodyPr wrap="square" lIns="50800" tIns="50800" rIns="50800" bIns="50800" anchor="ctr">
            <a:spAutoFit/>
          </a:bodyPr>
          <a:lstStyle>
            <a:lvl1pPr algn="l">
              <a:defRPr sz="2600">
                <a:solidFill>
                  <a:srgbClr val="FFFFFF"/>
                </a:solidFill>
              </a:defRPr>
            </a:lvl1pPr>
          </a:lstStyle>
          <a:p>
            <a:r>
              <a:rPr lang="en-US" altLang="zh-CN" dirty="0"/>
              <a:t>2. </a:t>
            </a:r>
            <a:r>
              <a:rPr lang="zh-CN" altLang="en-US" dirty="0"/>
              <a:t>软件介绍</a:t>
            </a:r>
            <a:endParaRPr lang="zh-CN" dirty="0"/>
          </a:p>
        </p:txBody>
      </p:sp>
      <p:cxnSp>
        <p:nvCxnSpPr>
          <p:cNvPr id="5" name="直接连接符 4"/>
          <p:cNvCxnSpPr/>
          <p:nvPr/>
        </p:nvCxnSpPr>
        <p:spPr>
          <a:xfrm>
            <a:off x="3825240" y="2189480"/>
            <a:ext cx="12700" cy="6800215"/>
          </a:xfrm>
          <a:prstGeom prst="line">
            <a:avLst/>
          </a:prstGeom>
          <a:noFill/>
          <a:ln w="25400" cap="flat">
            <a:solidFill>
              <a:schemeClr val="bg1"/>
            </a:solidFill>
            <a:prstDash val="solid"/>
            <a:miter lim="400000"/>
          </a:ln>
        </p:spPr>
        <p:style>
          <a:lnRef idx="0">
            <a:srgbClr val="FFFFFF"/>
          </a:lnRef>
          <a:fillRef idx="0">
            <a:srgbClr val="FFFFFF"/>
          </a:fillRef>
          <a:effectRef idx="0">
            <a:srgbClr val="FFFFFF"/>
          </a:effectRef>
          <a:fontRef idx="none"/>
        </p:style>
      </p:cxnSp>
      <p:sp>
        <p:nvSpPr>
          <p:cNvPr id="2" name="产品介绍">
            <a:extLst>
              <a:ext uri="{FF2B5EF4-FFF2-40B4-BE49-F238E27FC236}">
                <a16:creationId xmlns:a16="http://schemas.microsoft.com/office/drawing/2014/main" id="{09D8B597-7AE7-E91B-4E65-49DD93A442CE}"/>
              </a:ext>
            </a:extLst>
          </p:cNvPr>
          <p:cNvSpPr txBox="1"/>
          <p:nvPr/>
        </p:nvSpPr>
        <p:spPr>
          <a:xfrm>
            <a:off x="5134398" y="4254738"/>
            <a:ext cx="3432030" cy="502702"/>
          </a:xfrm>
          <a:prstGeom prst="rect">
            <a:avLst/>
          </a:prstGeom>
          <a:ln w="12700">
            <a:miter lim="400000"/>
          </a:ln>
        </p:spPr>
        <p:txBody>
          <a:bodyPr wrap="square" lIns="50800" tIns="50800" rIns="50800" bIns="50800" anchor="ctr">
            <a:spAutoFit/>
          </a:bodyPr>
          <a:lstStyle>
            <a:lvl1pPr algn="l">
              <a:defRPr sz="2600">
                <a:solidFill>
                  <a:srgbClr val="FFFFFF"/>
                </a:solidFill>
              </a:defRPr>
            </a:lvl1pPr>
          </a:lstStyle>
          <a:p>
            <a:r>
              <a:rPr lang="en-US" altLang="zh-CN" dirty="0"/>
              <a:t>3. </a:t>
            </a:r>
            <a:r>
              <a:rPr lang="zh-CN" altLang="en-US" dirty="0"/>
              <a:t>网页使用说明</a:t>
            </a:r>
            <a:endParaRPr lang="zh-CN" dirty="0"/>
          </a:p>
        </p:txBody>
      </p:sp>
      <p:sp>
        <p:nvSpPr>
          <p:cNvPr id="3" name="产品介绍">
            <a:extLst>
              <a:ext uri="{FF2B5EF4-FFF2-40B4-BE49-F238E27FC236}">
                <a16:creationId xmlns:a16="http://schemas.microsoft.com/office/drawing/2014/main" id="{D2B62D38-B0A7-5F17-3A7C-1F10A6C1C7F6}"/>
              </a:ext>
            </a:extLst>
          </p:cNvPr>
          <p:cNvSpPr txBox="1"/>
          <p:nvPr/>
        </p:nvSpPr>
        <p:spPr>
          <a:xfrm>
            <a:off x="5134398" y="4910440"/>
            <a:ext cx="3432030" cy="502702"/>
          </a:xfrm>
          <a:prstGeom prst="rect">
            <a:avLst/>
          </a:prstGeom>
          <a:ln w="12700">
            <a:miter lim="400000"/>
          </a:ln>
        </p:spPr>
        <p:txBody>
          <a:bodyPr wrap="square" lIns="50800" tIns="50800" rIns="50800" bIns="50800" anchor="ctr">
            <a:spAutoFit/>
          </a:bodyPr>
          <a:lstStyle>
            <a:lvl1pPr algn="l">
              <a:defRPr sz="2600">
                <a:solidFill>
                  <a:srgbClr val="FFFFFF"/>
                </a:solidFill>
              </a:defRPr>
            </a:lvl1pPr>
          </a:lstStyle>
          <a:p>
            <a:r>
              <a:rPr lang="en-US" altLang="zh-CN" dirty="0"/>
              <a:t>4. </a:t>
            </a:r>
            <a:r>
              <a:rPr lang="zh-CN" altLang="en-US" dirty="0"/>
              <a:t>生产软件使用说明</a:t>
            </a:r>
            <a:endParaRPr lang="zh-CN" dirty="0"/>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此处为PPT主题位置"/>
          <p:cNvSpPr txBox="1"/>
          <p:nvPr/>
        </p:nvSpPr>
        <p:spPr>
          <a:xfrm>
            <a:off x="807720" y="329651"/>
            <a:ext cx="4137351"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1.</a:t>
            </a:r>
            <a:r>
              <a:rPr lang="zh-CN" altLang="en-US" sz="3200" dirty="0">
                <a:solidFill>
                  <a:schemeClr val="tx1"/>
                </a:solidFill>
              </a:rPr>
              <a:t>软件组成与网络拓扑</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7F48AE53-0550-AB9E-857F-884E6608D2AE}"/>
              </a:ext>
            </a:extLst>
          </p:cNvPr>
          <p:cNvSpPr txBox="1"/>
          <p:nvPr/>
        </p:nvSpPr>
        <p:spPr>
          <a:xfrm>
            <a:off x="415547" y="1287147"/>
            <a:ext cx="2358018"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1.1 </a:t>
            </a:r>
            <a:r>
              <a:rPr kumimoji="0" lang="zh-CN" altLang="en-US" sz="3200" b="0" i="0" u="none" strike="noStrike" cap="none" spc="0" normalizeH="0" baseline="0" dirty="0">
                <a:ln>
                  <a:noFill/>
                </a:ln>
                <a:solidFill>
                  <a:srgbClr val="000000"/>
                </a:solidFill>
                <a:effectLst/>
                <a:uFillTx/>
                <a:latin typeface="+mn-lt"/>
                <a:ea typeface="+mn-ea"/>
                <a:cs typeface="+mn-cs"/>
                <a:sym typeface="Heiti SC Medium"/>
              </a:rPr>
              <a:t>软件组成</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3" name="文本框 2">
            <a:extLst>
              <a:ext uri="{FF2B5EF4-FFF2-40B4-BE49-F238E27FC236}">
                <a16:creationId xmlns:a16="http://schemas.microsoft.com/office/drawing/2014/main" id="{F94D2B8E-8AB3-080E-6B10-A027BD8AD30D}"/>
              </a:ext>
            </a:extLst>
          </p:cNvPr>
          <p:cNvSpPr txBox="1"/>
          <p:nvPr/>
        </p:nvSpPr>
        <p:spPr>
          <a:xfrm>
            <a:off x="555810" y="2244643"/>
            <a:ext cx="11496582" cy="379591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dirty="0"/>
              <a:t>	Pack</a:t>
            </a:r>
            <a:r>
              <a:rPr lang="zh-CN" altLang="en-US" dirty="0"/>
              <a:t>线生产软件由 </a:t>
            </a:r>
            <a:r>
              <a:rPr lang="zh-CN" altLang="en-US" dirty="0">
                <a:solidFill>
                  <a:schemeClr val="accent5"/>
                </a:solidFill>
              </a:rPr>
              <a:t>服务端软件</a:t>
            </a:r>
            <a:r>
              <a:rPr lang="en-US" altLang="zh-CN" dirty="0">
                <a:solidFill>
                  <a:schemeClr val="accent5"/>
                </a:solidFill>
              </a:rPr>
              <a:t>(</a:t>
            </a:r>
            <a:r>
              <a:rPr lang="zh-CN" altLang="en-US" dirty="0">
                <a:solidFill>
                  <a:schemeClr val="accent5"/>
                </a:solidFill>
              </a:rPr>
              <a:t>后台及网页</a:t>
            </a:r>
            <a:r>
              <a:rPr lang="en-US" altLang="zh-CN" dirty="0">
                <a:solidFill>
                  <a:schemeClr val="accent5"/>
                </a:solidFill>
              </a:rPr>
              <a:t>)</a:t>
            </a:r>
            <a:r>
              <a:rPr lang="zh-CN" altLang="en-US" dirty="0"/>
              <a:t>、</a:t>
            </a:r>
            <a:r>
              <a:rPr lang="zh-CN" altLang="en-US" dirty="0">
                <a:solidFill>
                  <a:schemeClr val="accent5"/>
                </a:solidFill>
              </a:rPr>
              <a:t>人工位客户端</a:t>
            </a:r>
            <a:r>
              <a:rPr lang="zh-CN" altLang="en-US" dirty="0"/>
              <a:t>、</a:t>
            </a:r>
            <a:r>
              <a:rPr lang="zh-CN" altLang="en-US" dirty="0">
                <a:solidFill>
                  <a:schemeClr val="accent5"/>
                </a:solidFill>
              </a:rPr>
              <a:t>自动工位客户端</a:t>
            </a:r>
            <a:r>
              <a:rPr lang="zh-CN" altLang="en-US" dirty="0"/>
              <a:t>构成。</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服务端软件用于处理生产数据的增删改查、与</a:t>
            </a:r>
            <a:r>
              <a:rPr lang="en-US" altLang="zh-CN" dirty="0"/>
              <a:t>AGV</a:t>
            </a:r>
            <a:r>
              <a:rPr lang="zh-CN" altLang="en-US" dirty="0"/>
              <a:t>小车的交互、配方管理以及用户管理等。</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人工位客户端通过扫描产品条码去向服务端软件申请配方，根据配方完成生产流程的管控。人工位客户端需要与生产外设</a:t>
            </a:r>
            <a:r>
              <a:rPr lang="en-US" altLang="zh-CN" dirty="0"/>
              <a:t>(</a:t>
            </a:r>
            <a:r>
              <a:rPr lang="zh-CN" altLang="en-US" dirty="0"/>
              <a:t>扫码枪、拧紧枪、电子秤等</a:t>
            </a:r>
            <a:r>
              <a:rPr lang="en-US" altLang="zh-CN" dirty="0"/>
              <a:t>)</a:t>
            </a:r>
            <a:r>
              <a:rPr lang="zh-CN" altLang="en-US" dirty="0"/>
              <a:t>进行交互，采集生产数据。</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自动工位客户端用于</a:t>
            </a:r>
            <a:r>
              <a:rPr lang="en-US" altLang="zh-CN" dirty="0"/>
              <a:t>PLC</a:t>
            </a:r>
            <a:r>
              <a:rPr lang="zh-CN" altLang="en-US" dirty="0"/>
              <a:t>通信，采集</a:t>
            </a:r>
            <a:r>
              <a:rPr lang="en-US" altLang="zh-CN" dirty="0"/>
              <a:t>PLC</a:t>
            </a:r>
            <a:r>
              <a:rPr lang="zh-CN" altLang="en-US" dirty="0"/>
              <a:t>数据，校验</a:t>
            </a:r>
            <a:r>
              <a:rPr lang="en-US" altLang="zh-CN" dirty="0"/>
              <a:t>PLC</a:t>
            </a:r>
            <a:r>
              <a:rPr lang="zh-CN" altLang="en-US" dirty="0"/>
              <a:t>数据合法性并将数据上传至服务端保存。</a:t>
            </a:r>
            <a:endParaRPr lang="en-US" altLang="zh-CN" dirty="0"/>
          </a:p>
          <a:p>
            <a:pPr marL="0" marR="0" indent="0" algn="l" defTabSz="584200" rtl="0" fontAlgn="auto" latinLnBrk="0" hangingPunct="0">
              <a:lnSpc>
                <a:spcPct val="100000"/>
              </a:lnSpc>
              <a:spcBef>
                <a:spcPts val="0"/>
              </a:spcBef>
              <a:spcAft>
                <a:spcPts val="0"/>
              </a:spcAft>
              <a:buClrTx/>
              <a:buSzTx/>
              <a:buFontTx/>
              <a:buNone/>
            </a:pPr>
            <a:endParaRPr kumimoji="0" lang="zh-CN" altLang="en-US" sz="2400" b="0" i="0" u="none" strike="noStrike" cap="none" spc="0" normalizeH="0" baseline="0" dirty="0">
              <a:ln>
                <a:noFill/>
              </a:ln>
              <a:solidFill>
                <a:srgbClr val="000000"/>
              </a:solidFill>
              <a:effectLst/>
              <a:uFillTx/>
              <a:latin typeface="+mn-lt"/>
              <a:ea typeface="+mn-ea"/>
              <a:cs typeface="+mn-cs"/>
              <a:sym typeface="Heiti SC Medium"/>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30B44-C03A-6B2E-F028-A1844386E080}"/>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BF0F539D-D509-5F17-EF86-1CED9202399C}"/>
              </a:ext>
            </a:extLst>
          </p:cNvPr>
          <p:cNvSpPr txBox="1"/>
          <p:nvPr/>
        </p:nvSpPr>
        <p:spPr>
          <a:xfrm>
            <a:off x="807720" y="329651"/>
            <a:ext cx="4137351"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1.</a:t>
            </a:r>
            <a:r>
              <a:rPr lang="zh-CN" altLang="en-US" sz="3200" dirty="0">
                <a:solidFill>
                  <a:schemeClr val="tx1"/>
                </a:solidFill>
              </a:rPr>
              <a:t>软件组成与网络拓扑</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21EB2681-B803-B86F-7EC7-37F438CDD15C}"/>
              </a:ext>
            </a:extLst>
          </p:cNvPr>
          <p:cNvSpPr txBox="1"/>
          <p:nvPr/>
        </p:nvSpPr>
        <p:spPr>
          <a:xfrm>
            <a:off x="415549" y="1287147"/>
            <a:ext cx="2358018"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1.2 </a:t>
            </a:r>
            <a:r>
              <a:rPr lang="zh-CN" altLang="en-US" sz="3200" dirty="0"/>
              <a:t>网络拓扑</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pic>
        <p:nvPicPr>
          <p:cNvPr id="5" name="图片 4">
            <a:extLst>
              <a:ext uri="{FF2B5EF4-FFF2-40B4-BE49-F238E27FC236}">
                <a16:creationId xmlns:a16="http://schemas.microsoft.com/office/drawing/2014/main" id="{4AD5EAB6-C3D1-4ADD-5D6C-C580D2A1B8A6}"/>
              </a:ext>
            </a:extLst>
          </p:cNvPr>
          <p:cNvPicPr>
            <a:picLocks noChangeAspect="1"/>
          </p:cNvPicPr>
          <p:nvPr/>
        </p:nvPicPr>
        <p:blipFill>
          <a:blip r:embed="rId2"/>
          <a:stretch>
            <a:fillRect/>
          </a:stretch>
        </p:blipFill>
        <p:spPr>
          <a:xfrm>
            <a:off x="485627" y="2135490"/>
            <a:ext cx="12033546" cy="6937489"/>
          </a:xfrm>
          <a:prstGeom prst="rect">
            <a:avLst/>
          </a:prstGeom>
        </p:spPr>
      </p:pic>
    </p:spTree>
    <p:extLst>
      <p:ext uri="{BB962C8B-B14F-4D97-AF65-F5344CB8AC3E}">
        <p14:creationId xmlns:p14="http://schemas.microsoft.com/office/powerpoint/2010/main" val="323579702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1013F-4304-2A76-3241-446467755A1D}"/>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2741208C-6796-D33F-1573-3271D93A94E7}"/>
              </a:ext>
            </a:extLst>
          </p:cNvPr>
          <p:cNvSpPr txBox="1"/>
          <p:nvPr/>
        </p:nvSpPr>
        <p:spPr>
          <a:xfrm>
            <a:off x="807720" y="329651"/>
            <a:ext cx="2085507"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2.</a:t>
            </a:r>
            <a:r>
              <a:rPr lang="zh-CN" altLang="en-US" sz="3200" dirty="0"/>
              <a:t>软件介绍</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4294361C-57D1-FFD6-8C87-4B7AE54050C8}"/>
              </a:ext>
            </a:extLst>
          </p:cNvPr>
          <p:cNvSpPr txBox="1"/>
          <p:nvPr/>
        </p:nvSpPr>
        <p:spPr>
          <a:xfrm>
            <a:off x="210366" y="1287147"/>
            <a:ext cx="2768387"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lang="en-US" altLang="zh-CN" sz="3200" dirty="0"/>
              <a:t>2</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.1 </a:t>
            </a:r>
            <a:r>
              <a:rPr kumimoji="0" lang="zh-CN" altLang="en-US" sz="3200" b="0" i="0" u="none" strike="noStrike" cap="none" spc="0" normalizeH="0" baseline="0" dirty="0">
                <a:ln>
                  <a:noFill/>
                </a:ln>
                <a:solidFill>
                  <a:srgbClr val="000000"/>
                </a:solidFill>
                <a:effectLst/>
                <a:uFillTx/>
                <a:latin typeface="+mn-lt"/>
                <a:ea typeface="+mn-ea"/>
                <a:cs typeface="+mn-cs"/>
                <a:sym typeface="Heiti SC Medium"/>
              </a:rPr>
              <a:t>服务端介绍</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3" name="文本框 2">
            <a:extLst>
              <a:ext uri="{FF2B5EF4-FFF2-40B4-BE49-F238E27FC236}">
                <a16:creationId xmlns:a16="http://schemas.microsoft.com/office/drawing/2014/main" id="{2858E8E8-1763-14DD-A00E-A2EBF9214BFD}"/>
              </a:ext>
            </a:extLst>
          </p:cNvPr>
          <p:cNvSpPr txBox="1"/>
          <p:nvPr/>
        </p:nvSpPr>
        <p:spPr>
          <a:xfrm>
            <a:off x="370805" y="2137406"/>
            <a:ext cx="11836574" cy="157992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服务端由</a:t>
            </a:r>
            <a:r>
              <a:rPr lang="en-US" altLang="zh-CN" dirty="0" err="1"/>
              <a:t>WebAPI</a:t>
            </a:r>
            <a:r>
              <a:rPr lang="en-US" altLang="zh-CN" dirty="0"/>
              <a:t> + </a:t>
            </a:r>
            <a:r>
              <a:rPr lang="zh-CN" altLang="en-US" dirty="0"/>
              <a:t>前端网页组合而成，用于收集人工位以及自动工位的生产数据，</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以及上传自动工位的生产数据。用户可以通过前端网页实现配方的导入导出与修改、</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用户权限的管控、生产数据的查询。</a:t>
            </a:r>
            <a:endParaRPr lang="en-US" altLang="zh-CN" dirty="0"/>
          </a:p>
          <a:p>
            <a:pPr marL="0" marR="0" indent="0" algn="l" defTabSz="584200" rtl="0" fontAlgn="auto" latinLnBrk="0" hangingPunct="0">
              <a:lnSpc>
                <a:spcPct val="100000"/>
              </a:lnSpc>
              <a:spcBef>
                <a:spcPts val="0"/>
              </a:spcBef>
              <a:spcAft>
                <a:spcPts val="0"/>
              </a:spcAft>
              <a:buClrTx/>
              <a:buSzTx/>
              <a:buFontTx/>
              <a:buNone/>
            </a:pPr>
            <a:endParaRPr kumimoji="0" lang="zh-CN" altLang="en-US" sz="2400" b="0" i="0" u="none" strike="noStrike" cap="none" spc="0" normalizeH="0" baseline="0" dirty="0">
              <a:ln>
                <a:noFill/>
              </a:ln>
              <a:solidFill>
                <a:srgbClr val="000000"/>
              </a:solidFill>
              <a:effectLst/>
              <a:uFillTx/>
              <a:latin typeface="+mn-lt"/>
              <a:ea typeface="+mn-ea"/>
              <a:cs typeface="+mn-cs"/>
              <a:sym typeface="Heiti SC Medium"/>
            </a:endParaRPr>
          </a:p>
        </p:txBody>
      </p:sp>
      <p:pic>
        <p:nvPicPr>
          <p:cNvPr id="5" name="图片 4">
            <a:extLst>
              <a:ext uri="{FF2B5EF4-FFF2-40B4-BE49-F238E27FC236}">
                <a16:creationId xmlns:a16="http://schemas.microsoft.com/office/drawing/2014/main" id="{8D18D443-8BBD-4F04-5A61-8FEEDF99FF0B}"/>
              </a:ext>
            </a:extLst>
          </p:cNvPr>
          <p:cNvPicPr>
            <a:picLocks noChangeAspect="1"/>
          </p:cNvPicPr>
          <p:nvPr/>
        </p:nvPicPr>
        <p:blipFill>
          <a:blip r:embed="rId2"/>
          <a:stretch>
            <a:fillRect/>
          </a:stretch>
        </p:blipFill>
        <p:spPr>
          <a:xfrm>
            <a:off x="904880" y="4405149"/>
            <a:ext cx="4405033" cy="3617642"/>
          </a:xfrm>
          <a:prstGeom prst="rect">
            <a:avLst/>
          </a:prstGeom>
        </p:spPr>
      </p:pic>
      <p:sp>
        <p:nvSpPr>
          <p:cNvPr id="6" name="文本框 5">
            <a:extLst>
              <a:ext uri="{FF2B5EF4-FFF2-40B4-BE49-F238E27FC236}">
                <a16:creationId xmlns:a16="http://schemas.microsoft.com/office/drawing/2014/main" id="{458D85C0-4BF9-1ABB-22B7-2BB0F24B9285}"/>
              </a:ext>
            </a:extLst>
          </p:cNvPr>
          <p:cNvSpPr txBox="1"/>
          <p:nvPr/>
        </p:nvSpPr>
        <p:spPr>
          <a:xfrm>
            <a:off x="2257976" y="8138642"/>
            <a:ext cx="1256754"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lang="zh-CN" altLang="en-US" sz="1800" dirty="0"/>
              <a:t>服务端界面</a:t>
            </a:r>
            <a:endParaRPr kumimoji="0" lang="zh-CN" altLang="en-US" sz="1800" b="0" i="0" u="none" strike="noStrike" cap="none" spc="0" normalizeH="0" baseline="0" dirty="0">
              <a:ln>
                <a:noFill/>
              </a:ln>
              <a:solidFill>
                <a:srgbClr val="000000"/>
              </a:solidFill>
              <a:effectLst/>
              <a:uFillTx/>
              <a:latin typeface="+mn-lt"/>
              <a:ea typeface="+mn-ea"/>
              <a:cs typeface="+mn-cs"/>
              <a:sym typeface="Heiti SC Medium"/>
            </a:endParaRPr>
          </a:p>
        </p:txBody>
      </p:sp>
      <p:pic>
        <p:nvPicPr>
          <p:cNvPr id="8" name="图片 7">
            <a:extLst>
              <a:ext uri="{FF2B5EF4-FFF2-40B4-BE49-F238E27FC236}">
                <a16:creationId xmlns:a16="http://schemas.microsoft.com/office/drawing/2014/main" id="{50EFF9B2-8E70-3485-B628-B84C644CC4A7}"/>
              </a:ext>
            </a:extLst>
          </p:cNvPr>
          <p:cNvPicPr>
            <a:picLocks noChangeAspect="1"/>
          </p:cNvPicPr>
          <p:nvPr/>
        </p:nvPicPr>
        <p:blipFill>
          <a:blip r:embed="rId3"/>
          <a:stretch>
            <a:fillRect/>
          </a:stretch>
        </p:blipFill>
        <p:spPr>
          <a:xfrm>
            <a:off x="5876356" y="4405149"/>
            <a:ext cx="6331023" cy="3617642"/>
          </a:xfrm>
          <a:prstGeom prst="rect">
            <a:avLst/>
          </a:prstGeom>
        </p:spPr>
      </p:pic>
      <p:sp>
        <p:nvSpPr>
          <p:cNvPr id="9" name="文本框 8">
            <a:extLst>
              <a:ext uri="{FF2B5EF4-FFF2-40B4-BE49-F238E27FC236}">
                <a16:creationId xmlns:a16="http://schemas.microsoft.com/office/drawing/2014/main" id="{585CE39A-5BC0-9784-184B-14972EB19077}"/>
              </a:ext>
            </a:extLst>
          </p:cNvPr>
          <p:cNvSpPr txBox="1"/>
          <p:nvPr/>
        </p:nvSpPr>
        <p:spPr>
          <a:xfrm>
            <a:off x="8977386" y="8138641"/>
            <a:ext cx="1025922"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lang="zh-CN" altLang="en-US" sz="1800" dirty="0"/>
              <a:t>前端页面</a:t>
            </a:r>
            <a:endParaRPr kumimoji="0" lang="zh-CN" altLang="en-US" sz="1800" b="0" i="0" u="none" strike="noStrike" cap="none" spc="0" normalizeH="0" baseline="0" dirty="0">
              <a:ln>
                <a:noFill/>
              </a:ln>
              <a:solidFill>
                <a:srgbClr val="000000"/>
              </a:solidFill>
              <a:effectLst/>
              <a:uFillTx/>
              <a:latin typeface="+mn-lt"/>
              <a:ea typeface="+mn-ea"/>
              <a:cs typeface="+mn-cs"/>
              <a:sym typeface="Heiti SC Medium"/>
            </a:endParaRPr>
          </a:p>
        </p:txBody>
      </p:sp>
    </p:spTree>
    <p:extLst>
      <p:ext uri="{BB962C8B-B14F-4D97-AF65-F5344CB8AC3E}">
        <p14:creationId xmlns:p14="http://schemas.microsoft.com/office/powerpoint/2010/main" val="383901854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1318B-9912-D92F-389D-45C1E697229D}"/>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D2AAA04B-A5BC-C839-2934-8367578C2E63}"/>
              </a:ext>
            </a:extLst>
          </p:cNvPr>
          <p:cNvSpPr txBox="1"/>
          <p:nvPr/>
        </p:nvSpPr>
        <p:spPr>
          <a:xfrm>
            <a:off x="807720" y="329651"/>
            <a:ext cx="2085507"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2.</a:t>
            </a:r>
            <a:r>
              <a:rPr lang="zh-CN" altLang="en-US" sz="3200" dirty="0"/>
              <a:t>软件介绍</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35359FFD-77D1-FD7A-A4E9-F6CDE4FA78CB}"/>
              </a:ext>
            </a:extLst>
          </p:cNvPr>
          <p:cNvSpPr txBox="1"/>
          <p:nvPr/>
        </p:nvSpPr>
        <p:spPr>
          <a:xfrm>
            <a:off x="370805" y="1314991"/>
            <a:ext cx="3999493"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sz="3200" dirty="0"/>
              <a:t>2</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.2 </a:t>
            </a:r>
            <a:r>
              <a:rPr kumimoji="0" lang="zh-CN" altLang="en-US" sz="3200" b="0" i="0" u="none" strike="noStrike" cap="none" spc="0" normalizeH="0" baseline="0" dirty="0">
                <a:ln>
                  <a:noFill/>
                </a:ln>
                <a:solidFill>
                  <a:srgbClr val="000000"/>
                </a:solidFill>
                <a:effectLst/>
                <a:uFillTx/>
                <a:latin typeface="+mn-lt"/>
                <a:ea typeface="+mn-ea"/>
                <a:cs typeface="+mn-cs"/>
                <a:sym typeface="Heiti SC Medium"/>
              </a:rPr>
              <a:t>人工位客户端介绍</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3" name="文本框 2">
            <a:extLst>
              <a:ext uri="{FF2B5EF4-FFF2-40B4-BE49-F238E27FC236}">
                <a16:creationId xmlns:a16="http://schemas.microsoft.com/office/drawing/2014/main" id="{3F17956C-7FE5-6639-600F-191086AC66A0}"/>
              </a:ext>
            </a:extLst>
          </p:cNvPr>
          <p:cNvSpPr txBox="1"/>
          <p:nvPr/>
        </p:nvSpPr>
        <p:spPr>
          <a:xfrm>
            <a:off x="370805" y="2322072"/>
            <a:ext cx="12105878" cy="12105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通过使用</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人工位客户端配备的扫码枪扫描产品条码调用服务端存储的工位配方信息，</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下发工位生产任务。通过不同的任务类型采集不同得到数据（扫码任务获取条码信息，拧</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紧任务获取拧紧枪反馈的拧紧结果）。</a:t>
            </a:r>
          </a:p>
        </p:txBody>
      </p:sp>
      <p:pic>
        <p:nvPicPr>
          <p:cNvPr id="7" name="图片 6">
            <a:extLst>
              <a:ext uri="{FF2B5EF4-FFF2-40B4-BE49-F238E27FC236}">
                <a16:creationId xmlns:a16="http://schemas.microsoft.com/office/drawing/2014/main" id="{9E151A5E-036F-69EB-4B46-B443EB75366A}"/>
              </a:ext>
            </a:extLst>
          </p:cNvPr>
          <p:cNvPicPr>
            <a:picLocks noChangeAspect="1"/>
          </p:cNvPicPr>
          <p:nvPr/>
        </p:nvPicPr>
        <p:blipFill>
          <a:blip r:embed="rId2"/>
          <a:stretch>
            <a:fillRect/>
          </a:stretch>
        </p:blipFill>
        <p:spPr>
          <a:xfrm>
            <a:off x="2418280" y="3558300"/>
            <a:ext cx="7741623" cy="5579412"/>
          </a:xfrm>
          <a:prstGeom prst="rect">
            <a:avLst/>
          </a:prstGeom>
        </p:spPr>
      </p:pic>
    </p:spTree>
    <p:extLst>
      <p:ext uri="{BB962C8B-B14F-4D97-AF65-F5344CB8AC3E}">
        <p14:creationId xmlns:p14="http://schemas.microsoft.com/office/powerpoint/2010/main" val="181409597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18011-D849-A6A6-6F0A-8EA45A537BCB}"/>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E44E32B9-09FC-E8AF-E5F3-0B43217562E0}"/>
              </a:ext>
            </a:extLst>
          </p:cNvPr>
          <p:cNvSpPr txBox="1"/>
          <p:nvPr/>
        </p:nvSpPr>
        <p:spPr>
          <a:xfrm>
            <a:off x="807720" y="329651"/>
            <a:ext cx="2085507"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2.</a:t>
            </a:r>
            <a:r>
              <a:rPr lang="zh-CN" altLang="en-US" sz="3200" dirty="0"/>
              <a:t>软件介绍</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5F339705-B480-2CB9-4146-4ADF90E9A873}"/>
              </a:ext>
            </a:extLst>
          </p:cNvPr>
          <p:cNvSpPr txBox="1"/>
          <p:nvPr/>
        </p:nvSpPr>
        <p:spPr>
          <a:xfrm>
            <a:off x="370805" y="1314991"/>
            <a:ext cx="4409862"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sz="3200" dirty="0"/>
              <a:t>2</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a:t>
            </a:r>
            <a:r>
              <a:rPr lang="en-US" altLang="zh-CN" sz="3200" dirty="0"/>
              <a:t>3</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3200" b="0" i="0" u="none" strike="noStrike" cap="none" spc="0" normalizeH="0" baseline="0" dirty="0">
                <a:ln>
                  <a:noFill/>
                </a:ln>
                <a:solidFill>
                  <a:srgbClr val="000000"/>
                </a:solidFill>
                <a:effectLst/>
                <a:uFillTx/>
                <a:latin typeface="+mn-lt"/>
                <a:ea typeface="+mn-ea"/>
                <a:cs typeface="+mn-cs"/>
                <a:sym typeface="Heiti SC Medium"/>
              </a:rPr>
              <a:t>自动工位客户端介绍</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3" name="文本框 2">
            <a:extLst>
              <a:ext uri="{FF2B5EF4-FFF2-40B4-BE49-F238E27FC236}">
                <a16:creationId xmlns:a16="http://schemas.microsoft.com/office/drawing/2014/main" id="{9618807E-5592-FA45-4864-214394D42D3F}"/>
              </a:ext>
            </a:extLst>
          </p:cNvPr>
          <p:cNvSpPr txBox="1"/>
          <p:nvPr/>
        </p:nvSpPr>
        <p:spPr>
          <a:xfrm>
            <a:off x="370805" y="2182924"/>
            <a:ext cx="12250148" cy="12105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自动工位客户端用于采集</a:t>
            </a:r>
            <a:r>
              <a:rPr lang="en-US" altLang="zh-CN" dirty="0"/>
              <a:t>PLC</a:t>
            </a:r>
            <a:r>
              <a:rPr lang="zh-CN" altLang="en-US" dirty="0"/>
              <a:t>的数据，以及控制产品在自动工位的生产流程，防止出现</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未按工艺路线生产的情况出现，可以通过此程序监控</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PLC</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的各项请求，并且通过右侧的日志</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消息，排查异常原因。</a:t>
            </a:r>
          </a:p>
        </p:txBody>
      </p:sp>
      <p:pic>
        <p:nvPicPr>
          <p:cNvPr id="5" name="图片 4">
            <a:extLst>
              <a:ext uri="{FF2B5EF4-FFF2-40B4-BE49-F238E27FC236}">
                <a16:creationId xmlns:a16="http://schemas.microsoft.com/office/drawing/2014/main" id="{827A22D2-3452-3555-9191-8B397737E0DF}"/>
              </a:ext>
            </a:extLst>
          </p:cNvPr>
          <p:cNvPicPr>
            <a:picLocks noChangeAspect="1"/>
          </p:cNvPicPr>
          <p:nvPr/>
        </p:nvPicPr>
        <p:blipFill>
          <a:blip r:embed="rId2"/>
          <a:stretch>
            <a:fillRect/>
          </a:stretch>
        </p:blipFill>
        <p:spPr>
          <a:xfrm>
            <a:off x="1970156" y="3458649"/>
            <a:ext cx="9064487" cy="5559080"/>
          </a:xfrm>
          <a:prstGeom prst="rect">
            <a:avLst/>
          </a:prstGeom>
        </p:spPr>
      </p:pic>
    </p:spTree>
    <p:extLst>
      <p:ext uri="{BB962C8B-B14F-4D97-AF65-F5344CB8AC3E}">
        <p14:creationId xmlns:p14="http://schemas.microsoft.com/office/powerpoint/2010/main" val="2071237023"/>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332EE-A5FD-A9D9-EF67-7694FC3A4333}"/>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7218E42E-7155-F47B-EA6C-FFC9814FCA97}"/>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50C54C67-F8FE-3987-8822-D00BAE596C8B}"/>
              </a:ext>
            </a:extLst>
          </p:cNvPr>
          <p:cNvSpPr txBox="1"/>
          <p:nvPr/>
        </p:nvSpPr>
        <p:spPr>
          <a:xfrm>
            <a:off x="370805" y="1314991"/>
            <a:ext cx="3589124"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3.1 </a:t>
            </a:r>
            <a:r>
              <a:rPr lang="zh-CN" altLang="en-US" sz="3200" dirty="0"/>
              <a:t>网页地址与登录</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pic>
        <p:nvPicPr>
          <p:cNvPr id="6" name="图片 5">
            <a:extLst>
              <a:ext uri="{FF2B5EF4-FFF2-40B4-BE49-F238E27FC236}">
                <a16:creationId xmlns:a16="http://schemas.microsoft.com/office/drawing/2014/main" id="{D2A11139-8D6B-0652-43B5-8018A8E3E43B}"/>
              </a:ext>
            </a:extLst>
          </p:cNvPr>
          <p:cNvPicPr>
            <a:picLocks noChangeAspect="1"/>
          </p:cNvPicPr>
          <p:nvPr/>
        </p:nvPicPr>
        <p:blipFill>
          <a:blip r:embed="rId2"/>
          <a:stretch>
            <a:fillRect/>
          </a:stretch>
        </p:blipFill>
        <p:spPr>
          <a:xfrm>
            <a:off x="1971922" y="4012635"/>
            <a:ext cx="8404529" cy="5157623"/>
          </a:xfrm>
          <a:prstGeom prst="rect">
            <a:avLst/>
          </a:prstGeom>
        </p:spPr>
      </p:pic>
      <p:sp>
        <p:nvSpPr>
          <p:cNvPr id="7" name="文本框 6">
            <a:extLst>
              <a:ext uri="{FF2B5EF4-FFF2-40B4-BE49-F238E27FC236}">
                <a16:creationId xmlns:a16="http://schemas.microsoft.com/office/drawing/2014/main" id="{EE3C0F3F-0093-0915-3EB8-48C6F6C38622}"/>
              </a:ext>
            </a:extLst>
          </p:cNvPr>
          <p:cNvSpPr txBox="1"/>
          <p:nvPr/>
        </p:nvSpPr>
        <p:spPr>
          <a:xfrm>
            <a:off x="5366787" y="9216424"/>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网页登陆界面</a:t>
            </a:r>
          </a:p>
        </p:txBody>
      </p:sp>
      <p:sp>
        <p:nvSpPr>
          <p:cNvPr id="8" name="文本框 7">
            <a:extLst>
              <a:ext uri="{FF2B5EF4-FFF2-40B4-BE49-F238E27FC236}">
                <a16:creationId xmlns:a16="http://schemas.microsoft.com/office/drawing/2014/main" id="{9C13A2A3-81B2-1E08-9405-8331802A59B2}"/>
              </a:ext>
            </a:extLst>
          </p:cNvPr>
          <p:cNvSpPr txBox="1"/>
          <p:nvPr/>
        </p:nvSpPr>
        <p:spPr>
          <a:xfrm>
            <a:off x="387409" y="1971315"/>
            <a:ext cx="11236691" cy="194925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网页地址：</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http://</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服务端设备</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IP:</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服务端端口号</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/index.html (</a:t>
            </a:r>
            <a:r>
              <a:rPr lang="zh-CN" altLang="en-US" dirty="0"/>
              <a:t>局域网内设备可使用</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en-US" altLang="zh-CN" dirty="0">
                <a:hlinkClick r:id="rId3"/>
              </a:rPr>
              <a:t>http://192.168.200.100/index.html</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如何登陆：打开网页后会自动跳转到登陆页面</a:t>
            </a:r>
            <a:r>
              <a:rPr lang="en-US" altLang="zh-CN" dirty="0"/>
              <a:t>, </a:t>
            </a:r>
            <a:r>
              <a:rPr lang="zh-CN" altLang="en-US" dirty="0"/>
              <a:t>通过设备配备的刷卡器，刷工牌进行登陆，如出现刷卡无效，请刷新页面重试（</a:t>
            </a:r>
            <a:r>
              <a:rPr lang="zh-CN" altLang="en-US" dirty="0">
                <a:solidFill>
                  <a:srgbClr val="FF0000"/>
                </a:solidFill>
              </a:rPr>
              <a:t>需确保系统中存在此卡号</a:t>
            </a:r>
            <a:r>
              <a:rPr lang="zh-CN" altLang="en-US" dirty="0"/>
              <a:t>）。</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endParaRPr kumimoji="0" lang="zh-CN" altLang="en-US" sz="2400" b="0" i="0" u="none" strike="noStrike" cap="none" spc="0" normalizeH="0" baseline="0" dirty="0">
              <a:ln>
                <a:noFill/>
              </a:ln>
              <a:solidFill>
                <a:srgbClr val="000000"/>
              </a:solidFill>
              <a:effectLst/>
              <a:uFillTx/>
              <a:latin typeface="+mn-lt"/>
              <a:ea typeface="+mn-ea"/>
              <a:cs typeface="+mn-cs"/>
              <a:sym typeface="Heiti SC Medium"/>
            </a:endParaRPr>
          </a:p>
        </p:txBody>
      </p:sp>
    </p:spTree>
    <p:extLst>
      <p:ext uri="{BB962C8B-B14F-4D97-AF65-F5344CB8AC3E}">
        <p14:creationId xmlns:p14="http://schemas.microsoft.com/office/powerpoint/2010/main" val="27887611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6C178-2F7C-D0D2-E8F9-CEEF2B66616F}"/>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149FB891-5CF4-2A5C-CFFE-B6740932B06A}"/>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C772C763-9DC7-3BBF-161F-AA841EE56106}"/>
              </a:ext>
            </a:extLst>
          </p:cNvPr>
          <p:cNvSpPr txBox="1"/>
          <p:nvPr/>
        </p:nvSpPr>
        <p:spPr>
          <a:xfrm>
            <a:off x="370805" y="1314991"/>
            <a:ext cx="4207883"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a:t>
            </a:r>
            <a:r>
              <a:rPr lang="en-US" altLang="zh-CN" sz="3200" dirty="0"/>
              <a:t>2</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r>
              <a:rPr lang="zh-CN" altLang="en-US" sz="3200" dirty="0"/>
              <a:t>网页功能介绍（</a:t>
            </a:r>
            <a:r>
              <a:rPr lang="en-US" altLang="zh-CN" sz="3200" dirty="0"/>
              <a:t>1</a:t>
            </a:r>
            <a:r>
              <a:rPr lang="zh-CN" altLang="en-US" sz="3200" dirty="0"/>
              <a:t>）</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8" name="文本框 7">
            <a:extLst>
              <a:ext uri="{FF2B5EF4-FFF2-40B4-BE49-F238E27FC236}">
                <a16:creationId xmlns:a16="http://schemas.microsoft.com/office/drawing/2014/main" id="{9D6B98A6-F6F8-8ABA-748F-ADDA429F8D58}"/>
              </a:ext>
            </a:extLst>
          </p:cNvPr>
          <p:cNvSpPr txBox="1"/>
          <p:nvPr/>
        </p:nvSpPr>
        <p:spPr>
          <a:xfrm>
            <a:off x="370805" y="2663377"/>
            <a:ext cx="11236691" cy="471924"/>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endParaRPr kumimoji="0" lang="zh-CN" altLang="en-US" sz="2400" b="0" i="0" u="none" strike="noStrike" cap="none" spc="0" normalizeH="0" baseline="0" dirty="0">
              <a:ln>
                <a:noFill/>
              </a:ln>
              <a:solidFill>
                <a:srgbClr val="000000"/>
              </a:solidFill>
              <a:effectLst/>
              <a:uFillTx/>
              <a:latin typeface="+mn-lt"/>
              <a:ea typeface="+mn-ea"/>
              <a:cs typeface="+mn-cs"/>
              <a:sym typeface="Heiti SC Medium"/>
            </a:endParaRPr>
          </a:p>
        </p:txBody>
      </p:sp>
      <p:pic>
        <p:nvPicPr>
          <p:cNvPr id="4" name="图片 3">
            <a:extLst>
              <a:ext uri="{FF2B5EF4-FFF2-40B4-BE49-F238E27FC236}">
                <a16:creationId xmlns:a16="http://schemas.microsoft.com/office/drawing/2014/main" id="{5567CF4A-E0EA-CD93-E269-871B7BBFCA1D}"/>
              </a:ext>
            </a:extLst>
          </p:cNvPr>
          <p:cNvPicPr>
            <a:picLocks noChangeAspect="1"/>
          </p:cNvPicPr>
          <p:nvPr/>
        </p:nvPicPr>
        <p:blipFill>
          <a:blip r:embed="rId2"/>
          <a:stretch>
            <a:fillRect/>
          </a:stretch>
        </p:blipFill>
        <p:spPr>
          <a:xfrm>
            <a:off x="1379737" y="3368292"/>
            <a:ext cx="10062365" cy="5505398"/>
          </a:xfrm>
          <a:prstGeom prst="rect">
            <a:avLst/>
          </a:prstGeom>
        </p:spPr>
      </p:pic>
      <p:sp>
        <p:nvSpPr>
          <p:cNvPr id="5" name="文本框 4">
            <a:extLst>
              <a:ext uri="{FF2B5EF4-FFF2-40B4-BE49-F238E27FC236}">
                <a16:creationId xmlns:a16="http://schemas.microsoft.com/office/drawing/2014/main" id="{9772D6A2-E3C5-9E3D-FE86-45A6805B2F0E}"/>
              </a:ext>
            </a:extLst>
          </p:cNvPr>
          <p:cNvSpPr txBox="1"/>
          <p:nvPr/>
        </p:nvSpPr>
        <p:spPr>
          <a:xfrm>
            <a:off x="370805" y="2058083"/>
            <a:ext cx="12080230" cy="84125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网页左侧列表为网页菜单项，各个功能页面可以通过点击对应的菜单项打开页面，如</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遇菜单栏被折叠，可以点击上方的三横线展开（</a:t>
            </a:r>
            <a:r>
              <a:rPr kumimoji="0" lang="zh-CN" altLang="en-US" sz="2400" b="0" i="0" u="none" strike="noStrike" cap="none" spc="0" normalizeH="0" baseline="0" dirty="0">
                <a:ln>
                  <a:noFill/>
                </a:ln>
                <a:solidFill>
                  <a:srgbClr val="FF0000"/>
                </a:solidFill>
                <a:effectLst/>
                <a:uFillTx/>
                <a:latin typeface="+mn-lt"/>
                <a:ea typeface="+mn-ea"/>
                <a:cs typeface="+mn-cs"/>
                <a:sym typeface="Heiti SC Medium"/>
              </a:rPr>
              <a:t>折叠状态下为三竖线</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a:t>
            </a:r>
          </a:p>
        </p:txBody>
      </p:sp>
    </p:spTree>
    <p:extLst>
      <p:ext uri="{BB962C8B-B14F-4D97-AF65-F5344CB8AC3E}">
        <p14:creationId xmlns:p14="http://schemas.microsoft.com/office/powerpoint/2010/main" val="128761352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BFA2C-5AFB-3219-1E7E-9D543EC606FE}"/>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BC45BF71-AB58-33A8-C6B8-A3196F84BE39}"/>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BA7B0F79-2A75-8B22-D9BE-AA704B11D989}"/>
              </a:ext>
            </a:extLst>
          </p:cNvPr>
          <p:cNvSpPr txBox="1"/>
          <p:nvPr/>
        </p:nvSpPr>
        <p:spPr>
          <a:xfrm>
            <a:off x="370805" y="1314991"/>
            <a:ext cx="4207883"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3.3 </a:t>
            </a:r>
            <a:r>
              <a:rPr lang="zh-CN" altLang="en-US" sz="3200" dirty="0"/>
              <a:t>网页功能介绍（</a:t>
            </a:r>
            <a:r>
              <a:rPr lang="en-US" altLang="zh-CN" sz="3200" dirty="0"/>
              <a:t>2</a:t>
            </a:r>
            <a:r>
              <a:rPr lang="zh-CN" altLang="en-US" sz="3200" dirty="0"/>
              <a:t>）</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8" name="文本框 7">
            <a:extLst>
              <a:ext uri="{FF2B5EF4-FFF2-40B4-BE49-F238E27FC236}">
                <a16:creationId xmlns:a16="http://schemas.microsoft.com/office/drawing/2014/main" id="{E12D9B2A-DD34-25D9-BDC8-8C4D3C02982B}"/>
              </a:ext>
            </a:extLst>
          </p:cNvPr>
          <p:cNvSpPr txBox="1"/>
          <p:nvPr/>
        </p:nvSpPr>
        <p:spPr>
          <a:xfrm>
            <a:off x="370805" y="1889831"/>
            <a:ext cx="11678236" cy="74892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zh-CN" altLang="en-US" sz="2000" dirty="0"/>
              <a:t>系统设置：</a:t>
            </a:r>
            <a:endParaRPr lang="en-US" altLang="zh-CN" sz="2000" dirty="0"/>
          </a:p>
          <a:p>
            <a:pPr marL="0" marR="0" indent="0" algn="l" defTabSz="584200" rtl="0" fontAlgn="auto" latinLnBrk="0" hangingPunct="0">
              <a:lnSpc>
                <a:spcPct val="100000"/>
              </a:lnSpc>
              <a:spcBef>
                <a:spcPts val="0"/>
              </a:spcBef>
              <a:spcAft>
                <a:spcPts val="0"/>
              </a:spcAft>
              <a:buClrTx/>
              <a:buSzTx/>
              <a:buFontTx/>
              <a:buNone/>
            </a:pPr>
            <a:r>
              <a:rPr lang="en-US" altLang="zh-CN" sz="2000" dirty="0"/>
              <a:t>	</a:t>
            </a:r>
            <a:r>
              <a:rPr lang="zh-CN" altLang="en-US" sz="2000" dirty="0"/>
              <a:t>模块管理：配置网页包含的菜单项，以及生产客户端的权限功能。</a:t>
            </a:r>
            <a:endParaRPr lang="en-US" altLang="zh-CN" sz="2000" dirty="0"/>
          </a:p>
          <a:p>
            <a:pPr marL="0" marR="0" indent="0" algn="l" defTabSz="584200" rtl="0" fontAlgn="auto" latinLnBrk="0" hangingPunct="0">
              <a:lnSpc>
                <a:spcPct val="100000"/>
              </a:lnSpc>
              <a:spcBef>
                <a:spcPts val="0"/>
              </a:spcBef>
              <a:spcAft>
                <a:spcPts val="0"/>
              </a:spcAft>
              <a:buClrTx/>
              <a:buSzTx/>
              <a:buFontTx/>
              <a:buNone/>
            </a:pPr>
            <a:r>
              <a:rPr lang="en-US" altLang="zh-CN" sz="2000" dirty="0"/>
              <a:t>	</a:t>
            </a:r>
            <a:r>
              <a:rPr lang="zh-CN" altLang="en-US" sz="2000" dirty="0"/>
              <a:t>角色管理：配置软件权限组，以及权限组包含的用户与可用模块。</a:t>
            </a:r>
            <a:endParaRPr lang="en-US" altLang="zh-CN" sz="2000" dirty="0"/>
          </a:p>
          <a:p>
            <a:pPr marL="0" marR="0" indent="0" algn="l" defTabSz="5842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用户管理：管理软件使用的用户。</a:t>
            </a:r>
            <a:endParaRPr kumimoji="0" lang="en-US" altLang="zh-CN" sz="20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sz="2000" dirty="0"/>
              <a:t>	</a:t>
            </a:r>
            <a:r>
              <a:rPr lang="zh-CN" altLang="en-US" sz="2000" dirty="0"/>
              <a:t>数据字典：配置软件使用过程中的一些参数项（</a:t>
            </a:r>
            <a:r>
              <a:rPr lang="zh-CN" altLang="en-US" sz="2000" dirty="0">
                <a:solidFill>
                  <a:srgbClr val="FF0000"/>
                </a:solidFill>
              </a:rPr>
              <a:t>一般无需使用</a:t>
            </a:r>
            <a:r>
              <a:rPr lang="zh-CN" altLang="en-US" sz="2000" dirty="0"/>
              <a:t>）。</a:t>
            </a:r>
            <a:endParaRPr lang="en-US" altLang="zh-CN" sz="2000" dirty="0"/>
          </a:p>
          <a:p>
            <a:pPr marL="0" marR="0" indent="0" algn="l" defTabSz="5842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业务配置：</a:t>
            </a:r>
            <a:endParaRPr kumimoji="0" lang="en-US" altLang="zh-CN" sz="20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sz="2000" dirty="0"/>
              <a:t>	</a:t>
            </a:r>
            <a:r>
              <a:rPr lang="zh-CN" altLang="en-US" sz="2000" dirty="0"/>
              <a:t>产品：管理产线可以生产的产品信息（名称、</a:t>
            </a:r>
            <a:r>
              <a:rPr lang="en-US" altLang="zh-CN" sz="2000" dirty="0"/>
              <a:t>PN</a:t>
            </a:r>
            <a:r>
              <a:rPr lang="zh-CN" altLang="en-US" sz="2000" dirty="0"/>
              <a:t>、条码规则等）。</a:t>
            </a:r>
            <a:endParaRPr lang="en-US" altLang="zh-CN" sz="2000" dirty="0"/>
          </a:p>
          <a:p>
            <a:pPr marL="0" marR="0" indent="0" algn="l" defTabSz="5842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工艺路线：管理产品的工序顺序信息。</a:t>
            </a:r>
            <a:endParaRPr kumimoji="0" lang="en-US" altLang="zh-CN" sz="20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sz="2000" dirty="0"/>
              <a:t>	</a:t>
            </a:r>
            <a:r>
              <a:rPr lang="zh-CN" altLang="en-US" sz="2000" dirty="0"/>
              <a:t>生产资源：管理工位上的外部设备信息（扫码枪、拧紧枪、电子秤）。</a:t>
            </a:r>
            <a:endParaRPr lang="en-US" altLang="zh-CN" sz="2000" dirty="0"/>
          </a:p>
          <a:p>
            <a:pPr marL="0" marR="0" indent="0" algn="l" defTabSz="5842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配方管理：管理不同的工艺路线下，各个工序的生产配方。</a:t>
            </a:r>
            <a:endParaRPr kumimoji="0" lang="en-US" altLang="zh-CN" sz="20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zh-CN" altLang="en-US" sz="2000" dirty="0"/>
              <a:t>工位状态：查看或修改条码在工位的完工情况（设置完工</a:t>
            </a:r>
            <a:r>
              <a:rPr lang="en-US" altLang="zh-CN" sz="2000" dirty="0"/>
              <a:t>/</a:t>
            </a:r>
            <a:r>
              <a:rPr lang="zh-CN" altLang="en-US" sz="2000" dirty="0"/>
              <a:t>未完工，一般返工时使用）</a:t>
            </a:r>
            <a:endParaRPr lang="en-US" altLang="zh-CN" sz="2000" dirty="0"/>
          </a:p>
          <a:p>
            <a:pPr marL="0" marR="0" indent="0" algn="l" defTabSz="5842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rgbClr val="000000"/>
                </a:solidFill>
                <a:effectLst/>
                <a:uFillTx/>
                <a:latin typeface="+mn-lt"/>
                <a:ea typeface="+mn-ea"/>
                <a:cs typeface="+mn-cs"/>
                <a:sym typeface="Heiti SC Medium"/>
              </a:rPr>
              <a:t>AGV</a:t>
            </a: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状态监控：查看</a:t>
            </a:r>
            <a:r>
              <a:rPr kumimoji="0" lang="en-US" altLang="zh-CN" sz="2000" b="0" i="0" u="none" strike="noStrike" cap="none" spc="0" normalizeH="0" baseline="0" dirty="0">
                <a:ln>
                  <a:noFill/>
                </a:ln>
                <a:solidFill>
                  <a:srgbClr val="000000"/>
                </a:solidFill>
                <a:effectLst/>
                <a:uFillTx/>
                <a:latin typeface="+mn-lt"/>
                <a:ea typeface="+mn-ea"/>
                <a:cs typeface="+mn-cs"/>
                <a:sym typeface="Heiti SC Medium"/>
              </a:rPr>
              <a:t>AGV</a:t>
            </a: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到位状态与绑定条码，以及操作</a:t>
            </a:r>
            <a:r>
              <a:rPr kumimoji="0" lang="en-US" altLang="zh-CN" sz="2000" b="0" i="0" u="none" strike="noStrike" cap="none" spc="0" normalizeH="0" baseline="0" dirty="0">
                <a:ln>
                  <a:noFill/>
                </a:ln>
                <a:solidFill>
                  <a:srgbClr val="000000"/>
                </a:solidFill>
                <a:effectLst/>
                <a:uFillTx/>
                <a:latin typeface="+mn-lt"/>
                <a:ea typeface="+mn-ea"/>
                <a:cs typeface="+mn-cs"/>
                <a:sym typeface="Heiti SC Medium"/>
              </a:rPr>
              <a:t>AGV</a:t>
            </a: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绑定</a:t>
            </a:r>
            <a:r>
              <a:rPr kumimoji="0" lang="en-US" altLang="zh-CN" sz="2000" b="0" i="0" u="none" strike="noStrike" cap="none" spc="0" normalizeH="0" baseline="0" dirty="0">
                <a:ln>
                  <a:noFill/>
                </a:ln>
                <a:solidFill>
                  <a:srgbClr val="000000"/>
                </a:solidFill>
                <a:effectLst/>
                <a:uFillTx/>
                <a:latin typeface="+mn-lt"/>
                <a:ea typeface="+mn-ea"/>
                <a:cs typeface="+mn-cs"/>
                <a:sym typeface="Heiti SC Medium"/>
              </a:rPr>
              <a:t>/</a:t>
            </a: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解绑、手动离站</a:t>
            </a:r>
            <a:r>
              <a:rPr kumimoji="0" lang="en-US" altLang="zh-CN" sz="2000" b="0" i="0" u="none" strike="noStrike" cap="none" spc="0" normalizeH="0" baseline="0" dirty="0">
                <a:ln>
                  <a:noFill/>
                </a:ln>
                <a:solidFill>
                  <a:srgbClr val="000000"/>
                </a:solidFill>
                <a:effectLst/>
                <a:uFillTx/>
                <a:latin typeface="+mn-lt"/>
                <a:ea typeface="+mn-ea"/>
                <a:cs typeface="+mn-cs"/>
                <a:sym typeface="Heiti SC Medium"/>
              </a:rPr>
              <a:t>/</a:t>
            </a: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到站、放行</a:t>
            </a:r>
            <a:r>
              <a:rPr kumimoji="0" lang="en-US" altLang="zh-CN" sz="2000" b="0" i="0" u="none" strike="noStrike" cap="none" spc="0" normalizeH="0" baseline="0" dirty="0">
                <a:ln>
                  <a:noFill/>
                </a:ln>
                <a:solidFill>
                  <a:srgbClr val="000000"/>
                </a:solidFill>
                <a:effectLst/>
                <a:uFillTx/>
                <a:latin typeface="+mn-lt"/>
                <a:ea typeface="+mn-ea"/>
                <a:cs typeface="+mn-cs"/>
                <a:sym typeface="Heiti SC Medium"/>
              </a:rPr>
              <a:t>AGV</a:t>
            </a: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a:t>
            </a:r>
            <a:endParaRPr kumimoji="0" lang="en-US" altLang="zh-CN" sz="20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产出品下线：</a:t>
            </a:r>
            <a:endParaRPr kumimoji="0" lang="en-US" altLang="zh-CN" sz="20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sz="2000" dirty="0"/>
              <a:t>	</a:t>
            </a:r>
            <a:r>
              <a:rPr lang="zh-CN" altLang="en-US" sz="2000" dirty="0"/>
              <a:t>下线列表：查看已经完工的条码。</a:t>
            </a:r>
            <a:endParaRPr lang="en-US" altLang="zh-CN" sz="2000" dirty="0"/>
          </a:p>
          <a:p>
            <a:pPr marL="0" marR="0" indent="0" algn="l" defTabSz="5842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追溯管理：</a:t>
            </a:r>
            <a:endParaRPr kumimoji="0" lang="en-US" altLang="zh-CN" sz="20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sz="2000" dirty="0"/>
              <a:t>	</a:t>
            </a:r>
            <a:r>
              <a:rPr lang="zh-CN" altLang="en-US" sz="2000" dirty="0"/>
              <a:t>正向追溯：查看条码在所有工位的生产信息。</a:t>
            </a:r>
            <a:endParaRPr lang="en-US" altLang="zh-CN" sz="2000" dirty="0"/>
          </a:p>
          <a:p>
            <a:pPr marL="0" marR="0" indent="0" algn="l" defTabSz="5842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拧紧枪数据管理：</a:t>
            </a:r>
            <a:endParaRPr kumimoji="0" lang="en-US" altLang="zh-CN" sz="20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sz="2000" dirty="0"/>
              <a:t>	</a:t>
            </a:r>
            <a:r>
              <a:rPr lang="zh-CN" altLang="en-US" sz="2000" dirty="0"/>
              <a:t>拧紧枪数据详情：查看人工位拧紧枪的数据结果。</a:t>
            </a:r>
            <a:endParaRPr lang="en-US" altLang="zh-CN" sz="2000" dirty="0"/>
          </a:p>
          <a:p>
            <a:pPr marL="0" marR="0" indent="0" algn="l" defTabSz="5842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自动工位数据管理：</a:t>
            </a:r>
            <a:endParaRPr kumimoji="0" lang="en-US" altLang="zh-CN" sz="20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sz="2000" dirty="0"/>
              <a:t>	</a:t>
            </a:r>
            <a:r>
              <a:rPr lang="zh-CN" altLang="en-US" sz="2000" dirty="0"/>
              <a:t>自动拧紧数据详情：查看拧紧自动站的数据结果集。</a:t>
            </a:r>
            <a:endParaRPr lang="en-US" altLang="zh-CN" sz="2000" dirty="0"/>
          </a:p>
          <a:p>
            <a:pPr marL="0" marR="0" indent="0" algn="l" defTabSz="5842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涂胶数据详情：查看自动站涂胶数据结果集。</a:t>
            </a:r>
            <a:endParaRPr kumimoji="0" lang="en-US" altLang="zh-CN" sz="20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sz="2000" dirty="0"/>
              <a:t>	</a:t>
            </a:r>
            <a:r>
              <a:rPr lang="zh-CN" altLang="en-US" sz="2000" dirty="0"/>
              <a:t>加压数据详情：</a:t>
            </a: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查看自动站加压数据结果集。</a:t>
            </a:r>
            <a:endParaRPr kumimoji="0" lang="en-US" altLang="zh-CN" sz="20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sz="2000" dirty="0"/>
              <a:t>	Block</a:t>
            </a:r>
            <a:r>
              <a:rPr lang="zh-CN" altLang="en-US" sz="2000" dirty="0"/>
              <a:t>入箱详情：</a:t>
            </a:r>
            <a:r>
              <a:rPr kumimoji="0" lang="zh-CN" altLang="en-US" sz="2000" b="0" i="0" u="none" strike="noStrike" cap="none" spc="0" normalizeH="0" baseline="0" dirty="0">
                <a:ln>
                  <a:noFill/>
                </a:ln>
                <a:solidFill>
                  <a:srgbClr val="000000"/>
                </a:solidFill>
                <a:effectLst/>
                <a:uFillTx/>
                <a:latin typeface="+mn-lt"/>
                <a:ea typeface="+mn-ea"/>
                <a:cs typeface="+mn-cs"/>
                <a:sym typeface="Heiti SC Medium"/>
              </a:rPr>
              <a:t>查看自动站模组入箱数据结果集。</a:t>
            </a:r>
            <a:endParaRPr kumimoji="0" lang="en-US" altLang="zh-CN" sz="20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zh-CN" altLang="en-US" sz="2000" dirty="0"/>
              <a:t>系统日志：查看配方修改记录日志。</a:t>
            </a:r>
            <a:endParaRPr kumimoji="0" lang="zh-CN" altLang="en-US" sz="2000" b="0" i="0" u="none" strike="noStrike" cap="none" spc="0" normalizeH="0" baseline="0" dirty="0">
              <a:ln>
                <a:noFill/>
              </a:ln>
              <a:solidFill>
                <a:srgbClr val="000000"/>
              </a:solidFill>
              <a:effectLst/>
              <a:uFillTx/>
              <a:latin typeface="+mn-lt"/>
              <a:ea typeface="+mn-ea"/>
              <a:cs typeface="+mn-cs"/>
              <a:sym typeface="Heiti SC Medium"/>
            </a:endParaRPr>
          </a:p>
        </p:txBody>
      </p:sp>
    </p:spTree>
    <p:extLst>
      <p:ext uri="{BB962C8B-B14F-4D97-AF65-F5344CB8AC3E}">
        <p14:creationId xmlns:p14="http://schemas.microsoft.com/office/powerpoint/2010/main" val="46640901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EC905-E7AC-CA48-F634-F3279EECBD0C}"/>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0AAA599C-3C8B-F650-9249-C1B96A245297}"/>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FA6CC54C-79D1-A7FA-79A8-0ED477C08A19}"/>
              </a:ext>
            </a:extLst>
          </p:cNvPr>
          <p:cNvSpPr txBox="1"/>
          <p:nvPr/>
        </p:nvSpPr>
        <p:spPr>
          <a:xfrm>
            <a:off x="370805" y="1314991"/>
            <a:ext cx="2358018"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a:t>
            </a:r>
            <a:r>
              <a:rPr lang="en-US" altLang="zh-CN" sz="3200" dirty="0"/>
              <a:t>4</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r>
              <a:rPr lang="zh-CN" altLang="en-US" sz="3200" dirty="0"/>
              <a:t>管理用户</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3" name="文本框 2">
            <a:extLst>
              <a:ext uri="{FF2B5EF4-FFF2-40B4-BE49-F238E27FC236}">
                <a16:creationId xmlns:a16="http://schemas.microsoft.com/office/drawing/2014/main" id="{D7D6580B-CDE6-A63D-ED62-7059DC7AE5FB}"/>
              </a:ext>
            </a:extLst>
          </p:cNvPr>
          <p:cNvSpPr txBox="1"/>
          <p:nvPr/>
        </p:nvSpPr>
        <p:spPr>
          <a:xfrm>
            <a:off x="370805" y="2115665"/>
            <a:ext cx="11464677" cy="194925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进入系统配置</a:t>
            </a:r>
            <a:r>
              <a:rPr lang="en-US" altLang="zh-CN" dirty="0"/>
              <a:t>-</a:t>
            </a:r>
            <a:r>
              <a:rPr lang="zh-CN" altLang="en-US" dirty="0"/>
              <a:t>用户管理界面可以添加、修改用户信息。</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添加用户：点击添加，在弹窗中，输入用户的帐号（建议通过刷卡器输入）、密</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码（建议保持默认，默认密码与卡号一致）、工号、姓名后点击提交。</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编辑用户：点击对应用户行后的的编辑，在弹窗中修改信息后提交。</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停用用户：</a:t>
            </a:r>
            <a:r>
              <a:rPr lang="zh-CN" altLang="en-US" dirty="0"/>
              <a:t>点击对应用户行后的的停用（用于员工调离或离职）。</a:t>
            </a:r>
            <a:endParaRPr kumimoji="0" lang="zh-CN" altLang="en-US" sz="2400" b="0" i="0" u="none" strike="noStrike" cap="none" spc="0" normalizeH="0" baseline="0" dirty="0">
              <a:ln>
                <a:noFill/>
              </a:ln>
              <a:solidFill>
                <a:srgbClr val="000000"/>
              </a:solidFill>
              <a:effectLst/>
              <a:uFillTx/>
              <a:latin typeface="+mn-lt"/>
              <a:ea typeface="+mn-ea"/>
              <a:cs typeface="+mn-cs"/>
              <a:sym typeface="Heiti SC Medium"/>
            </a:endParaRPr>
          </a:p>
        </p:txBody>
      </p:sp>
      <p:pic>
        <p:nvPicPr>
          <p:cNvPr id="5" name="图片 4">
            <a:extLst>
              <a:ext uri="{FF2B5EF4-FFF2-40B4-BE49-F238E27FC236}">
                <a16:creationId xmlns:a16="http://schemas.microsoft.com/office/drawing/2014/main" id="{F0D2C9BA-91FF-DEEF-8A88-C489F1F2DD9E}"/>
              </a:ext>
            </a:extLst>
          </p:cNvPr>
          <p:cNvPicPr>
            <a:picLocks noChangeAspect="1"/>
          </p:cNvPicPr>
          <p:nvPr/>
        </p:nvPicPr>
        <p:blipFill>
          <a:blip r:embed="rId2"/>
          <a:stretch>
            <a:fillRect/>
          </a:stretch>
        </p:blipFill>
        <p:spPr>
          <a:xfrm>
            <a:off x="370805" y="4723306"/>
            <a:ext cx="7268076" cy="3401098"/>
          </a:xfrm>
          <a:prstGeom prst="rect">
            <a:avLst/>
          </a:prstGeom>
        </p:spPr>
      </p:pic>
      <p:pic>
        <p:nvPicPr>
          <p:cNvPr id="7" name="图片 6">
            <a:extLst>
              <a:ext uri="{FF2B5EF4-FFF2-40B4-BE49-F238E27FC236}">
                <a16:creationId xmlns:a16="http://schemas.microsoft.com/office/drawing/2014/main" id="{7C6CFC05-30AF-A995-372E-152B7754B8AA}"/>
              </a:ext>
            </a:extLst>
          </p:cNvPr>
          <p:cNvPicPr>
            <a:picLocks noChangeAspect="1"/>
          </p:cNvPicPr>
          <p:nvPr/>
        </p:nvPicPr>
        <p:blipFill>
          <a:blip r:embed="rId3"/>
          <a:stretch>
            <a:fillRect/>
          </a:stretch>
        </p:blipFill>
        <p:spPr>
          <a:xfrm>
            <a:off x="8518122" y="4188047"/>
            <a:ext cx="2977363" cy="1949252"/>
          </a:xfrm>
          <a:prstGeom prst="rect">
            <a:avLst/>
          </a:prstGeom>
        </p:spPr>
      </p:pic>
      <p:pic>
        <p:nvPicPr>
          <p:cNvPr id="10" name="图片 9">
            <a:extLst>
              <a:ext uri="{FF2B5EF4-FFF2-40B4-BE49-F238E27FC236}">
                <a16:creationId xmlns:a16="http://schemas.microsoft.com/office/drawing/2014/main" id="{0EAF8B96-4773-1838-D919-F0B939590C8A}"/>
              </a:ext>
            </a:extLst>
          </p:cNvPr>
          <p:cNvPicPr>
            <a:picLocks noChangeAspect="1"/>
          </p:cNvPicPr>
          <p:nvPr/>
        </p:nvPicPr>
        <p:blipFill>
          <a:blip r:embed="rId4"/>
          <a:stretch>
            <a:fillRect/>
          </a:stretch>
        </p:blipFill>
        <p:spPr>
          <a:xfrm>
            <a:off x="8518122" y="6744424"/>
            <a:ext cx="2977363" cy="2179856"/>
          </a:xfrm>
          <a:prstGeom prst="rect">
            <a:avLst/>
          </a:prstGeom>
        </p:spPr>
      </p:pic>
      <p:sp>
        <p:nvSpPr>
          <p:cNvPr id="11" name="文本框 10">
            <a:extLst>
              <a:ext uri="{FF2B5EF4-FFF2-40B4-BE49-F238E27FC236}">
                <a16:creationId xmlns:a16="http://schemas.microsoft.com/office/drawing/2014/main" id="{8F2C9631-E18E-A515-B523-2FC18A235C26}"/>
              </a:ext>
            </a:extLst>
          </p:cNvPr>
          <p:cNvSpPr txBox="1"/>
          <p:nvPr/>
        </p:nvSpPr>
        <p:spPr>
          <a:xfrm>
            <a:off x="3261049" y="8124404"/>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用户管理页面</a:t>
            </a:r>
          </a:p>
        </p:txBody>
      </p:sp>
      <p:sp>
        <p:nvSpPr>
          <p:cNvPr id="12" name="文本框 11">
            <a:extLst>
              <a:ext uri="{FF2B5EF4-FFF2-40B4-BE49-F238E27FC236}">
                <a16:creationId xmlns:a16="http://schemas.microsoft.com/office/drawing/2014/main" id="{A334024A-94F4-23A8-4D10-7EA4C154DB86}"/>
              </a:ext>
            </a:extLst>
          </p:cNvPr>
          <p:cNvSpPr txBox="1"/>
          <p:nvPr/>
        </p:nvSpPr>
        <p:spPr>
          <a:xfrm>
            <a:off x="9263013" y="6137299"/>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添加用户弹窗</a:t>
            </a:r>
          </a:p>
        </p:txBody>
      </p:sp>
      <p:sp>
        <p:nvSpPr>
          <p:cNvPr id="13" name="文本框 12">
            <a:extLst>
              <a:ext uri="{FF2B5EF4-FFF2-40B4-BE49-F238E27FC236}">
                <a16:creationId xmlns:a16="http://schemas.microsoft.com/office/drawing/2014/main" id="{2494ED79-4FC6-BCDB-5D07-10A1D37D6B7F}"/>
              </a:ext>
            </a:extLst>
          </p:cNvPr>
          <p:cNvSpPr txBox="1"/>
          <p:nvPr/>
        </p:nvSpPr>
        <p:spPr>
          <a:xfrm>
            <a:off x="9357804" y="8924280"/>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编辑用户弹窗</a:t>
            </a:r>
          </a:p>
        </p:txBody>
      </p:sp>
    </p:spTree>
    <p:extLst>
      <p:ext uri="{BB962C8B-B14F-4D97-AF65-F5344CB8AC3E}">
        <p14:creationId xmlns:p14="http://schemas.microsoft.com/office/powerpoint/2010/main" val="360457267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FE7AF-33F6-B168-4E4F-D0FDFF54C39B}"/>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E6C296B9-6353-BFDC-B491-3960BBD8E17E}"/>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EA314921-AC21-F6A2-E63C-E6549A459221}"/>
              </a:ext>
            </a:extLst>
          </p:cNvPr>
          <p:cNvSpPr txBox="1"/>
          <p:nvPr/>
        </p:nvSpPr>
        <p:spPr>
          <a:xfrm>
            <a:off x="370805" y="1314991"/>
            <a:ext cx="2358018"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3.5 </a:t>
            </a:r>
            <a:r>
              <a:rPr lang="zh-CN" altLang="en-US" sz="3200" dirty="0"/>
              <a:t>管理权限</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3" name="文本框 2">
            <a:extLst>
              <a:ext uri="{FF2B5EF4-FFF2-40B4-BE49-F238E27FC236}">
                <a16:creationId xmlns:a16="http://schemas.microsoft.com/office/drawing/2014/main" id="{E02BFAB7-4620-533F-6CBE-330788228603}"/>
              </a:ext>
            </a:extLst>
          </p:cNvPr>
          <p:cNvSpPr txBox="1"/>
          <p:nvPr/>
        </p:nvSpPr>
        <p:spPr>
          <a:xfrm>
            <a:off x="370805" y="2115665"/>
            <a:ext cx="11839780" cy="194925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进入系统配置</a:t>
            </a:r>
            <a:r>
              <a:rPr lang="en-US" altLang="zh-CN" dirty="0"/>
              <a:t>-</a:t>
            </a:r>
            <a:r>
              <a:rPr lang="zh-CN" altLang="en-US" dirty="0"/>
              <a:t>角色管理界面可以对用户分配权限。</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添加角色：点击添加，在弹窗中，输入角色名后点击提交。</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编辑</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角色</a:t>
            </a:r>
            <a:r>
              <a:rPr lang="zh-CN" altLang="en-US" dirty="0"/>
              <a:t>：点击对应用户行后的的编辑，在弹窗中修改信息后提交。</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lang="zh-CN" altLang="en-US" dirty="0"/>
              <a:t>分配用户：点击对应角色行后得到分配用户，在弹出的窗口中勾选对应的用户。</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分配模块：点击</a:t>
            </a:r>
            <a:r>
              <a:rPr lang="zh-CN" altLang="en-US" dirty="0"/>
              <a:t>对应角色行后得到分配模块，在弹出的窗口中勾选有权限的模块。</a:t>
            </a:r>
            <a:endParaRPr kumimoji="0" lang="zh-CN" altLang="en-US" sz="24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11" name="文本框 10">
            <a:extLst>
              <a:ext uri="{FF2B5EF4-FFF2-40B4-BE49-F238E27FC236}">
                <a16:creationId xmlns:a16="http://schemas.microsoft.com/office/drawing/2014/main" id="{02FE0A73-AA26-2014-82EF-5A5561936607}"/>
              </a:ext>
            </a:extLst>
          </p:cNvPr>
          <p:cNvSpPr txBox="1"/>
          <p:nvPr/>
        </p:nvSpPr>
        <p:spPr>
          <a:xfrm>
            <a:off x="4052001" y="5881254"/>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角色管理页面</a:t>
            </a:r>
          </a:p>
        </p:txBody>
      </p:sp>
      <p:sp>
        <p:nvSpPr>
          <p:cNvPr id="12" name="文本框 11">
            <a:extLst>
              <a:ext uri="{FF2B5EF4-FFF2-40B4-BE49-F238E27FC236}">
                <a16:creationId xmlns:a16="http://schemas.microsoft.com/office/drawing/2014/main" id="{684AD0B1-1743-3410-1BCF-0A2C13C14E15}"/>
              </a:ext>
            </a:extLst>
          </p:cNvPr>
          <p:cNvSpPr txBox="1"/>
          <p:nvPr/>
        </p:nvSpPr>
        <p:spPr>
          <a:xfrm>
            <a:off x="5401761" y="9014848"/>
            <a:ext cx="2039020"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添加</a:t>
            </a:r>
            <a:r>
              <a:rPr kumimoji="0" lang="en-US" altLang="zh-CN" sz="1800" b="0" i="0" u="none" strike="noStrike" cap="none" spc="0" normalizeH="0" baseline="0" dirty="0">
                <a:ln>
                  <a:noFill/>
                </a:ln>
                <a:solidFill>
                  <a:srgbClr val="000000"/>
                </a:solidFill>
                <a:effectLst/>
                <a:uFillTx/>
                <a:latin typeface="+mn-lt"/>
                <a:ea typeface="+mn-ea"/>
                <a:cs typeface="+mn-cs"/>
                <a:sym typeface="Heiti SC Medium"/>
              </a:rPr>
              <a:t>/</a:t>
            </a: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编辑角色弹窗</a:t>
            </a:r>
          </a:p>
        </p:txBody>
      </p:sp>
      <p:pic>
        <p:nvPicPr>
          <p:cNvPr id="6" name="图片 5">
            <a:extLst>
              <a:ext uri="{FF2B5EF4-FFF2-40B4-BE49-F238E27FC236}">
                <a16:creationId xmlns:a16="http://schemas.microsoft.com/office/drawing/2014/main" id="{5DA57E63-E88C-3020-472A-6323FFB8DF52}"/>
              </a:ext>
            </a:extLst>
          </p:cNvPr>
          <p:cNvPicPr>
            <a:picLocks noChangeAspect="1"/>
          </p:cNvPicPr>
          <p:nvPr/>
        </p:nvPicPr>
        <p:blipFill>
          <a:blip r:embed="rId2"/>
          <a:stretch>
            <a:fillRect/>
          </a:stretch>
        </p:blipFill>
        <p:spPr>
          <a:xfrm>
            <a:off x="2304788" y="4301334"/>
            <a:ext cx="5135993" cy="1579920"/>
          </a:xfrm>
          <a:prstGeom prst="rect">
            <a:avLst/>
          </a:prstGeom>
        </p:spPr>
      </p:pic>
      <p:pic>
        <p:nvPicPr>
          <p:cNvPr id="9" name="图片 8">
            <a:extLst>
              <a:ext uri="{FF2B5EF4-FFF2-40B4-BE49-F238E27FC236}">
                <a16:creationId xmlns:a16="http://schemas.microsoft.com/office/drawing/2014/main" id="{EC6256F1-8813-81F0-0E19-33921D874E75}"/>
              </a:ext>
            </a:extLst>
          </p:cNvPr>
          <p:cNvPicPr>
            <a:picLocks noChangeAspect="1"/>
          </p:cNvPicPr>
          <p:nvPr/>
        </p:nvPicPr>
        <p:blipFill>
          <a:blip r:embed="rId3"/>
          <a:stretch>
            <a:fillRect/>
          </a:stretch>
        </p:blipFill>
        <p:spPr>
          <a:xfrm>
            <a:off x="4113863" y="7549447"/>
            <a:ext cx="4734586" cy="1467055"/>
          </a:xfrm>
          <a:prstGeom prst="rect">
            <a:avLst/>
          </a:prstGeom>
        </p:spPr>
      </p:pic>
      <p:pic>
        <p:nvPicPr>
          <p:cNvPr id="15" name="图片 14">
            <a:extLst>
              <a:ext uri="{FF2B5EF4-FFF2-40B4-BE49-F238E27FC236}">
                <a16:creationId xmlns:a16="http://schemas.microsoft.com/office/drawing/2014/main" id="{29BD9A60-5E39-A660-3FC6-337ED4366D6C}"/>
              </a:ext>
            </a:extLst>
          </p:cNvPr>
          <p:cNvPicPr>
            <a:picLocks noChangeAspect="1"/>
          </p:cNvPicPr>
          <p:nvPr/>
        </p:nvPicPr>
        <p:blipFill>
          <a:blip r:embed="rId4"/>
          <a:stretch>
            <a:fillRect/>
          </a:stretch>
        </p:blipFill>
        <p:spPr>
          <a:xfrm>
            <a:off x="769202" y="6338811"/>
            <a:ext cx="2983280" cy="2777333"/>
          </a:xfrm>
          <a:prstGeom prst="rect">
            <a:avLst/>
          </a:prstGeom>
        </p:spPr>
      </p:pic>
      <p:sp>
        <p:nvSpPr>
          <p:cNvPr id="16" name="文本框 15">
            <a:extLst>
              <a:ext uri="{FF2B5EF4-FFF2-40B4-BE49-F238E27FC236}">
                <a16:creationId xmlns:a16="http://schemas.microsoft.com/office/drawing/2014/main" id="{A612099B-A2DC-8E19-AF16-2D1A5D7931F4}"/>
              </a:ext>
            </a:extLst>
          </p:cNvPr>
          <p:cNvSpPr txBox="1"/>
          <p:nvPr/>
        </p:nvSpPr>
        <p:spPr>
          <a:xfrm>
            <a:off x="1517048" y="9016502"/>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分配用户弹窗</a:t>
            </a:r>
          </a:p>
        </p:txBody>
      </p:sp>
      <p:pic>
        <p:nvPicPr>
          <p:cNvPr id="18" name="图片 17">
            <a:extLst>
              <a:ext uri="{FF2B5EF4-FFF2-40B4-BE49-F238E27FC236}">
                <a16:creationId xmlns:a16="http://schemas.microsoft.com/office/drawing/2014/main" id="{E1AECA2D-2B6E-E4C3-D9FB-07B3BAE72F94}"/>
              </a:ext>
            </a:extLst>
          </p:cNvPr>
          <p:cNvPicPr>
            <a:picLocks noChangeAspect="1"/>
          </p:cNvPicPr>
          <p:nvPr/>
        </p:nvPicPr>
        <p:blipFill>
          <a:blip r:embed="rId5"/>
          <a:stretch>
            <a:fillRect/>
          </a:stretch>
        </p:blipFill>
        <p:spPr>
          <a:xfrm>
            <a:off x="9004238" y="4304467"/>
            <a:ext cx="3206347" cy="4068687"/>
          </a:xfrm>
          <a:prstGeom prst="rect">
            <a:avLst/>
          </a:prstGeom>
        </p:spPr>
      </p:pic>
      <p:sp>
        <p:nvSpPr>
          <p:cNvPr id="19" name="文本框 18">
            <a:extLst>
              <a:ext uri="{FF2B5EF4-FFF2-40B4-BE49-F238E27FC236}">
                <a16:creationId xmlns:a16="http://schemas.microsoft.com/office/drawing/2014/main" id="{0D50071A-DE04-C374-8164-1969EDBE37C1}"/>
              </a:ext>
            </a:extLst>
          </p:cNvPr>
          <p:cNvSpPr txBox="1"/>
          <p:nvPr/>
        </p:nvSpPr>
        <p:spPr>
          <a:xfrm>
            <a:off x="9863618" y="8545815"/>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分配模块弹窗</a:t>
            </a:r>
          </a:p>
        </p:txBody>
      </p:sp>
    </p:spTree>
    <p:extLst>
      <p:ext uri="{BB962C8B-B14F-4D97-AF65-F5344CB8AC3E}">
        <p14:creationId xmlns:p14="http://schemas.microsoft.com/office/powerpoint/2010/main" val="69524326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60E39-D90A-F1B3-72CF-4D3CC2332BF7}"/>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9A1D250F-479E-E9BF-EE23-DC4B7F290674}"/>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D3F40C15-2422-F1CA-2E40-4FF062F3A6BE}"/>
              </a:ext>
            </a:extLst>
          </p:cNvPr>
          <p:cNvSpPr txBox="1"/>
          <p:nvPr/>
        </p:nvSpPr>
        <p:spPr>
          <a:xfrm>
            <a:off x="370805" y="1314991"/>
            <a:ext cx="4249561"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a:t>
            </a:r>
            <a:r>
              <a:rPr lang="en-US" altLang="zh-CN" sz="3200" dirty="0"/>
              <a:t>6</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3200" b="0" i="0" u="none" strike="noStrike" cap="none" spc="0" normalizeH="0" baseline="0" dirty="0">
                <a:ln>
                  <a:noFill/>
                </a:ln>
                <a:solidFill>
                  <a:srgbClr val="000000"/>
                </a:solidFill>
                <a:effectLst/>
                <a:uFillTx/>
                <a:latin typeface="+mn-lt"/>
                <a:ea typeface="+mn-ea"/>
                <a:cs typeface="+mn-cs"/>
                <a:sym typeface="Heiti SC Medium"/>
              </a:rPr>
              <a:t>配方管理</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a:t>
            </a:r>
            <a:r>
              <a:rPr kumimoji="0" lang="zh-CN" altLang="en-US" sz="3200" b="0" i="0" u="none" strike="noStrike" cap="none" spc="0" normalizeH="0" baseline="0" dirty="0">
                <a:ln>
                  <a:noFill/>
                </a:ln>
                <a:solidFill>
                  <a:srgbClr val="000000"/>
                </a:solidFill>
                <a:effectLst/>
                <a:uFillTx/>
                <a:latin typeface="+mn-lt"/>
                <a:ea typeface="+mn-ea"/>
                <a:cs typeface="+mn-cs"/>
                <a:sym typeface="Heiti SC Medium"/>
              </a:rPr>
              <a:t>添加配方</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4" name="文本框 3">
            <a:extLst>
              <a:ext uri="{FF2B5EF4-FFF2-40B4-BE49-F238E27FC236}">
                <a16:creationId xmlns:a16="http://schemas.microsoft.com/office/drawing/2014/main" id="{7F8C0179-E0A7-41C8-6AF9-C8C56C5ADD01}"/>
              </a:ext>
            </a:extLst>
          </p:cNvPr>
          <p:cNvSpPr txBox="1"/>
          <p:nvPr/>
        </p:nvSpPr>
        <p:spPr>
          <a:xfrm>
            <a:off x="370805" y="1978399"/>
            <a:ext cx="8204169" cy="157992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Step1</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、添加产品。</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Step2</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、添加工艺路线</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dirty="0"/>
              <a:t>Step3</a:t>
            </a:r>
            <a:r>
              <a:rPr lang="zh-CN" altLang="en-US" dirty="0"/>
              <a:t>、为工艺路线分配工序（按照工序实际需求顺序分配）</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Step4</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、为工序分配配方任务（导入</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Excel</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或手动添加）</a:t>
            </a:r>
          </a:p>
        </p:txBody>
      </p:sp>
      <p:sp>
        <p:nvSpPr>
          <p:cNvPr id="5" name="文本框 4">
            <a:extLst>
              <a:ext uri="{FF2B5EF4-FFF2-40B4-BE49-F238E27FC236}">
                <a16:creationId xmlns:a16="http://schemas.microsoft.com/office/drawing/2014/main" id="{B5DA8B99-B9BD-2FBE-9677-A28BA834CE57}"/>
              </a:ext>
            </a:extLst>
          </p:cNvPr>
          <p:cNvSpPr txBox="1"/>
          <p:nvPr/>
        </p:nvSpPr>
        <p:spPr>
          <a:xfrm>
            <a:off x="356377" y="4396235"/>
            <a:ext cx="12224500" cy="84125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lang="zh-CN" altLang="en-US" dirty="0"/>
              <a:t>进入</a:t>
            </a:r>
            <a:r>
              <a:rPr lang="zh-CN" altLang="en-US" dirty="0">
                <a:highlight>
                  <a:srgbClr val="FFFF00"/>
                </a:highlight>
              </a:rPr>
              <a:t>业务配置</a:t>
            </a:r>
            <a:r>
              <a:rPr lang="en-US" altLang="zh-CN" dirty="0">
                <a:highlight>
                  <a:srgbClr val="FFFF00"/>
                </a:highlight>
              </a:rPr>
              <a:t>-</a:t>
            </a:r>
            <a:r>
              <a:rPr lang="zh-CN" altLang="en-US" dirty="0">
                <a:highlight>
                  <a:srgbClr val="FFFF00"/>
                </a:highlight>
              </a:rPr>
              <a:t>产品</a:t>
            </a:r>
            <a:r>
              <a:rPr lang="zh-CN" altLang="en-US" dirty="0"/>
              <a:t>页面，点击添加，输入产品名称、产品</a:t>
            </a:r>
            <a:r>
              <a:rPr lang="en-US" altLang="zh-CN" dirty="0"/>
              <a:t>PN</a:t>
            </a:r>
            <a:r>
              <a:rPr lang="zh-CN" altLang="en-US" dirty="0"/>
              <a:t>以及产品条码规则（可输</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入任意值），点击确定。</a:t>
            </a:r>
            <a:r>
              <a:rPr lang="en-US" altLang="zh-CN" dirty="0"/>
              <a:t> </a:t>
            </a:r>
            <a:r>
              <a:rPr lang="en-US" altLang="zh-CN" dirty="0">
                <a:solidFill>
                  <a:srgbClr val="FF0000"/>
                </a:solidFill>
              </a:rPr>
              <a:t>Ps</a:t>
            </a:r>
            <a:r>
              <a:rPr lang="zh-CN" altLang="en-US" dirty="0">
                <a:solidFill>
                  <a:srgbClr val="FF0000"/>
                </a:solidFill>
              </a:rPr>
              <a:t>：如果不确定产品名称，建议与产品</a:t>
            </a:r>
            <a:r>
              <a:rPr lang="en-US" altLang="zh-CN" dirty="0">
                <a:solidFill>
                  <a:srgbClr val="FF0000"/>
                </a:solidFill>
              </a:rPr>
              <a:t>PN</a:t>
            </a:r>
            <a:r>
              <a:rPr lang="zh-CN" altLang="en-US" dirty="0">
                <a:solidFill>
                  <a:srgbClr val="FF0000"/>
                </a:solidFill>
              </a:rPr>
              <a:t>保持一致</a:t>
            </a:r>
            <a:endParaRPr lang="en-US" altLang="zh-CN" dirty="0">
              <a:solidFill>
                <a:srgbClr val="FF0000"/>
              </a:solidFill>
            </a:endParaRPr>
          </a:p>
        </p:txBody>
      </p:sp>
      <p:pic>
        <p:nvPicPr>
          <p:cNvPr id="8" name="图片 7">
            <a:extLst>
              <a:ext uri="{FF2B5EF4-FFF2-40B4-BE49-F238E27FC236}">
                <a16:creationId xmlns:a16="http://schemas.microsoft.com/office/drawing/2014/main" id="{A652A03F-06B7-1537-5C0D-FD7B22DD60D5}"/>
              </a:ext>
            </a:extLst>
          </p:cNvPr>
          <p:cNvPicPr>
            <a:picLocks noChangeAspect="1"/>
          </p:cNvPicPr>
          <p:nvPr/>
        </p:nvPicPr>
        <p:blipFill>
          <a:blip r:embed="rId2"/>
          <a:stretch>
            <a:fillRect/>
          </a:stretch>
        </p:blipFill>
        <p:spPr>
          <a:xfrm>
            <a:off x="612742" y="5804811"/>
            <a:ext cx="5119622" cy="3207947"/>
          </a:xfrm>
          <a:prstGeom prst="rect">
            <a:avLst/>
          </a:prstGeom>
        </p:spPr>
      </p:pic>
      <p:pic>
        <p:nvPicPr>
          <p:cNvPr id="13" name="图片 12">
            <a:extLst>
              <a:ext uri="{FF2B5EF4-FFF2-40B4-BE49-F238E27FC236}">
                <a16:creationId xmlns:a16="http://schemas.microsoft.com/office/drawing/2014/main" id="{01377049-0100-140C-FCA3-8585FA32C1D5}"/>
              </a:ext>
            </a:extLst>
          </p:cNvPr>
          <p:cNvPicPr>
            <a:picLocks noChangeAspect="1"/>
          </p:cNvPicPr>
          <p:nvPr/>
        </p:nvPicPr>
        <p:blipFill>
          <a:blip r:embed="rId3"/>
          <a:stretch>
            <a:fillRect/>
          </a:stretch>
        </p:blipFill>
        <p:spPr>
          <a:xfrm>
            <a:off x="6862676" y="5898861"/>
            <a:ext cx="4734586" cy="3019846"/>
          </a:xfrm>
          <a:prstGeom prst="rect">
            <a:avLst/>
          </a:prstGeom>
        </p:spPr>
      </p:pic>
      <p:sp>
        <p:nvSpPr>
          <p:cNvPr id="14" name="文本框 13">
            <a:extLst>
              <a:ext uri="{FF2B5EF4-FFF2-40B4-BE49-F238E27FC236}">
                <a16:creationId xmlns:a16="http://schemas.microsoft.com/office/drawing/2014/main" id="{C44FEC81-3725-4B37-A33E-F0292FC14B0D}"/>
              </a:ext>
            </a:extLst>
          </p:cNvPr>
          <p:cNvSpPr txBox="1"/>
          <p:nvPr/>
        </p:nvSpPr>
        <p:spPr>
          <a:xfrm>
            <a:off x="2659593" y="9044358"/>
            <a:ext cx="1025922"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产品页面</a:t>
            </a:r>
          </a:p>
        </p:txBody>
      </p:sp>
      <p:sp>
        <p:nvSpPr>
          <p:cNvPr id="17" name="文本框 16">
            <a:extLst>
              <a:ext uri="{FF2B5EF4-FFF2-40B4-BE49-F238E27FC236}">
                <a16:creationId xmlns:a16="http://schemas.microsoft.com/office/drawing/2014/main" id="{84EBD6E3-546E-DD96-DDEF-714A6F4AC865}"/>
              </a:ext>
            </a:extLst>
          </p:cNvPr>
          <p:cNvSpPr txBox="1"/>
          <p:nvPr/>
        </p:nvSpPr>
        <p:spPr>
          <a:xfrm>
            <a:off x="8486180" y="9044358"/>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添加产品弹窗</a:t>
            </a:r>
          </a:p>
        </p:txBody>
      </p:sp>
      <p:sp>
        <p:nvSpPr>
          <p:cNvPr id="20" name="文本框 19">
            <a:extLst>
              <a:ext uri="{FF2B5EF4-FFF2-40B4-BE49-F238E27FC236}">
                <a16:creationId xmlns:a16="http://schemas.microsoft.com/office/drawing/2014/main" id="{EBF2FED2-8EF2-541C-677B-34CC58584100}"/>
              </a:ext>
            </a:extLst>
          </p:cNvPr>
          <p:cNvSpPr txBox="1"/>
          <p:nvPr/>
        </p:nvSpPr>
        <p:spPr>
          <a:xfrm>
            <a:off x="356377" y="3708128"/>
            <a:ext cx="2670603"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a:t>
            </a:r>
            <a:r>
              <a:rPr lang="en-US" altLang="zh-CN" sz="3200" dirty="0"/>
              <a:t>6.1</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3200" b="0" i="0" u="none" strike="noStrike" cap="none" spc="0" normalizeH="0" baseline="0" dirty="0">
                <a:ln>
                  <a:noFill/>
                </a:ln>
                <a:solidFill>
                  <a:srgbClr val="000000"/>
                </a:solidFill>
                <a:effectLst/>
                <a:uFillTx/>
                <a:latin typeface="+mn-lt"/>
                <a:ea typeface="+mn-ea"/>
                <a:cs typeface="+mn-cs"/>
                <a:sym typeface="Heiti SC Medium"/>
              </a:rPr>
              <a:t>添加</a:t>
            </a:r>
            <a:r>
              <a:rPr lang="zh-CN" altLang="en-US" sz="3200" dirty="0"/>
              <a:t>产品</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Tree>
    <p:extLst>
      <p:ext uri="{BB962C8B-B14F-4D97-AF65-F5344CB8AC3E}">
        <p14:creationId xmlns:p14="http://schemas.microsoft.com/office/powerpoint/2010/main" val="269867012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E3EB3-5067-9C5D-E24E-08FD07A803F9}"/>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B5585116-8BE2-4379-40F6-4DAF4D8CB3B4}"/>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963DC196-DDF5-1911-AB25-CFF9DEC3C5A2}"/>
              </a:ext>
            </a:extLst>
          </p:cNvPr>
          <p:cNvSpPr txBox="1"/>
          <p:nvPr/>
        </p:nvSpPr>
        <p:spPr>
          <a:xfrm>
            <a:off x="370805" y="1314991"/>
            <a:ext cx="3491340"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a:t>
            </a:r>
            <a:r>
              <a:rPr lang="en-US" altLang="zh-CN" sz="3200" dirty="0"/>
              <a:t>6.2</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r>
              <a:rPr lang="zh-CN" altLang="en-US" sz="3200" dirty="0"/>
              <a:t>添加工艺路线</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5" name="文本框 4">
            <a:extLst>
              <a:ext uri="{FF2B5EF4-FFF2-40B4-BE49-F238E27FC236}">
                <a16:creationId xmlns:a16="http://schemas.microsoft.com/office/drawing/2014/main" id="{87B8CDAC-09FA-0B9C-6ADE-EACEB98660D3}"/>
              </a:ext>
            </a:extLst>
          </p:cNvPr>
          <p:cNvSpPr txBox="1"/>
          <p:nvPr/>
        </p:nvSpPr>
        <p:spPr>
          <a:xfrm>
            <a:off x="370805" y="2035677"/>
            <a:ext cx="12174808" cy="157992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lang="zh-CN" altLang="en-US" dirty="0"/>
              <a:t>进入</a:t>
            </a:r>
            <a:r>
              <a:rPr lang="zh-CN" altLang="en-US" dirty="0">
                <a:highlight>
                  <a:srgbClr val="FFFF00"/>
                </a:highlight>
              </a:rPr>
              <a:t>业务配置</a:t>
            </a:r>
            <a:r>
              <a:rPr lang="en-US" altLang="zh-CN" dirty="0">
                <a:highlight>
                  <a:srgbClr val="FFFF00"/>
                </a:highlight>
              </a:rPr>
              <a:t>-</a:t>
            </a:r>
            <a:r>
              <a:rPr lang="zh-CN" altLang="en-US" dirty="0">
                <a:highlight>
                  <a:srgbClr val="FFFF00"/>
                </a:highlight>
              </a:rPr>
              <a:t>工艺路线</a:t>
            </a:r>
            <a:r>
              <a:rPr lang="zh-CN" altLang="en-US" dirty="0"/>
              <a:t>页面，点击添加，输入工艺编码（没有确切的工艺编码可与产</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品</a:t>
            </a:r>
            <a:r>
              <a:rPr lang="en-US" altLang="zh-CN" dirty="0"/>
              <a:t>PN</a:t>
            </a:r>
            <a:r>
              <a:rPr lang="zh-CN" altLang="en-US" dirty="0"/>
              <a:t>保持一致）、工艺名称、选择产出品（选择</a:t>
            </a:r>
            <a:r>
              <a:rPr lang="en-US" altLang="zh-CN" dirty="0"/>
              <a:t>3.6.1</a:t>
            </a:r>
            <a:r>
              <a:rPr lang="zh-CN" altLang="en-US" dirty="0"/>
              <a:t>中新添加的产品，如果没有加载出</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来，请刷新后重新添加），分配工序，点击确定。</a:t>
            </a:r>
            <a:r>
              <a:rPr lang="en-US" altLang="zh-CN" dirty="0">
                <a:solidFill>
                  <a:srgbClr val="FF0000"/>
                </a:solidFill>
              </a:rPr>
              <a:t>PS</a:t>
            </a:r>
            <a:r>
              <a:rPr lang="zh-CN" altLang="en-US" dirty="0">
                <a:solidFill>
                  <a:srgbClr val="FF0000"/>
                </a:solidFill>
              </a:rPr>
              <a:t>、工序分配可以在点击确定后，通过</a:t>
            </a:r>
            <a:endParaRPr lang="en-US" altLang="zh-CN" dirty="0">
              <a:solidFill>
                <a:srgbClr val="FF0000"/>
              </a:solidFill>
            </a:endParaRPr>
          </a:p>
          <a:p>
            <a:pPr marL="0" marR="0" indent="0" algn="l" defTabSz="584200" rtl="0" fontAlgn="auto" latinLnBrk="0" hangingPunct="0">
              <a:lnSpc>
                <a:spcPct val="100000"/>
              </a:lnSpc>
              <a:spcBef>
                <a:spcPts val="0"/>
              </a:spcBef>
              <a:spcAft>
                <a:spcPts val="0"/>
              </a:spcAft>
              <a:buClrTx/>
              <a:buSzTx/>
              <a:buFontTx/>
              <a:buNone/>
            </a:pPr>
            <a:r>
              <a:rPr lang="zh-CN" altLang="en-US" dirty="0">
                <a:solidFill>
                  <a:srgbClr val="FF0000"/>
                </a:solidFill>
              </a:rPr>
              <a:t>编辑工艺路线来进行分配操作。</a:t>
            </a:r>
            <a:endParaRPr lang="en-US" altLang="zh-CN" dirty="0">
              <a:solidFill>
                <a:srgbClr val="FF0000"/>
              </a:solidFill>
            </a:endParaRPr>
          </a:p>
        </p:txBody>
      </p:sp>
      <p:sp>
        <p:nvSpPr>
          <p:cNvPr id="14" name="文本框 13">
            <a:extLst>
              <a:ext uri="{FF2B5EF4-FFF2-40B4-BE49-F238E27FC236}">
                <a16:creationId xmlns:a16="http://schemas.microsoft.com/office/drawing/2014/main" id="{C2757EA6-59A9-5BA5-D8DB-EC78DEB1E954}"/>
              </a:ext>
            </a:extLst>
          </p:cNvPr>
          <p:cNvSpPr txBox="1"/>
          <p:nvPr/>
        </p:nvSpPr>
        <p:spPr>
          <a:xfrm>
            <a:off x="2436646" y="7630577"/>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lang="zh-CN" altLang="en-US" sz="1800" dirty="0"/>
              <a:t>工艺路线</a:t>
            </a: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页面</a:t>
            </a:r>
          </a:p>
        </p:txBody>
      </p:sp>
      <p:sp>
        <p:nvSpPr>
          <p:cNvPr id="17" name="文本框 16">
            <a:extLst>
              <a:ext uri="{FF2B5EF4-FFF2-40B4-BE49-F238E27FC236}">
                <a16:creationId xmlns:a16="http://schemas.microsoft.com/office/drawing/2014/main" id="{2965AAF5-90C2-C115-9802-2F7926277812}"/>
              </a:ext>
            </a:extLst>
          </p:cNvPr>
          <p:cNvSpPr txBox="1"/>
          <p:nvPr/>
        </p:nvSpPr>
        <p:spPr>
          <a:xfrm>
            <a:off x="8263230" y="7630577"/>
            <a:ext cx="1949253"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添加</a:t>
            </a:r>
            <a:r>
              <a:rPr lang="zh-CN" altLang="en-US" sz="1800" dirty="0"/>
              <a:t>工艺路线</a:t>
            </a: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弹窗</a:t>
            </a:r>
          </a:p>
        </p:txBody>
      </p:sp>
      <p:pic>
        <p:nvPicPr>
          <p:cNvPr id="6" name="图片 5">
            <a:extLst>
              <a:ext uri="{FF2B5EF4-FFF2-40B4-BE49-F238E27FC236}">
                <a16:creationId xmlns:a16="http://schemas.microsoft.com/office/drawing/2014/main" id="{3FF4C935-D8FF-64BF-11CD-99CDF18D028D}"/>
              </a:ext>
            </a:extLst>
          </p:cNvPr>
          <p:cNvPicPr>
            <a:picLocks noChangeAspect="1"/>
          </p:cNvPicPr>
          <p:nvPr/>
        </p:nvPicPr>
        <p:blipFill>
          <a:blip r:embed="rId2"/>
          <a:stretch>
            <a:fillRect/>
          </a:stretch>
        </p:blipFill>
        <p:spPr>
          <a:xfrm>
            <a:off x="1070354" y="4970922"/>
            <a:ext cx="4220165" cy="2534004"/>
          </a:xfrm>
          <a:prstGeom prst="rect">
            <a:avLst/>
          </a:prstGeom>
        </p:spPr>
      </p:pic>
      <p:pic>
        <p:nvPicPr>
          <p:cNvPr id="9" name="图片 8">
            <a:extLst>
              <a:ext uri="{FF2B5EF4-FFF2-40B4-BE49-F238E27FC236}">
                <a16:creationId xmlns:a16="http://schemas.microsoft.com/office/drawing/2014/main" id="{FE164690-B1B9-19D6-F812-ABA185740248}"/>
              </a:ext>
            </a:extLst>
          </p:cNvPr>
          <p:cNvPicPr>
            <a:picLocks noChangeAspect="1"/>
          </p:cNvPicPr>
          <p:nvPr/>
        </p:nvPicPr>
        <p:blipFill>
          <a:blip r:embed="rId3"/>
          <a:stretch>
            <a:fillRect/>
          </a:stretch>
        </p:blipFill>
        <p:spPr>
          <a:xfrm>
            <a:off x="7073780" y="4645430"/>
            <a:ext cx="4328152" cy="2985147"/>
          </a:xfrm>
          <a:prstGeom prst="rect">
            <a:avLst/>
          </a:prstGeom>
        </p:spPr>
      </p:pic>
    </p:spTree>
    <p:extLst>
      <p:ext uri="{BB962C8B-B14F-4D97-AF65-F5344CB8AC3E}">
        <p14:creationId xmlns:p14="http://schemas.microsoft.com/office/powerpoint/2010/main" val="96947751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38510-F47F-6375-DDD7-CB9EA54CDD35}"/>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2A35DAA3-3A80-9BC4-D52A-A8460AF3C00F}"/>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18F06544-2B9F-49AC-3C60-1A69DE8073C6}"/>
              </a:ext>
            </a:extLst>
          </p:cNvPr>
          <p:cNvSpPr txBox="1"/>
          <p:nvPr/>
        </p:nvSpPr>
        <p:spPr>
          <a:xfrm>
            <a:off x="370805" y="1314991"/>
            <a:ext cx="4722447"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a:t>
            </a:r>
            <a:r>
              <a:rPr lang="en-US" altLang="zh-CN" sz="3200" dirty="0"/>
              <a:t>6.3</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r>
              <a:rPr lang="zh-CN" altLang="en-US" sz="3200" dirty="0"/>
              <a:t>为工艺路线分配工序</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5" name="文本框 4">
            <a:extLst>
              <a:ext uri="{FF2B5EF4-FFF2-40B4-BE49-F238E27FC236}">
                <a16:creationId xmlns:a16="http://schemas.microsoft.com/office/drawing/2014/main" id="{77455DD0-1192-1F10-745C-5AF6E8F542EB}"/>
              </a:ext>
            </a:extLst>
          </p:cNvPr>
          <p:cNvSpPr txBox="1"/>
          <p:nvPr/>
        </p:nvSpPr>
        <p:spPr>
          <a:xfrm>
            <a:off x="370805" y="2035677"/>
            <a:ext cx="12384801" cy="157992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lang="zh-CN" altLang="en-US" dirty="0"/>
              <a:t>在</a:t>
            </a:r>
            <a:r>
              <a:rPr lang="en-US" altLang="zh-CN" dirty="0"/>
              <a:t>3.6.2</a:t>
            </a:r>
            <a:r>
              <a:rPr lang="zh-CN" altLang="en-US" dirty="0"/>
              <a:t>的添加</a:t>
            </a:r>
            <a:r>
              <a:rPr lang="en-US" altLang="zh-CN" dirty="0"/>
              <a:t>/</a:t>
            </a:r>
            <a:r>
              <a:rPr lang="zh-CN" altLang="en-US" dirty="0"/>
              <a:t>编辑工艺路线弹窗中点击添加工序，此时会在下方列表中增加下拉框，</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点击新出现的下拉框选择工序。</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en-US" altLang="zh-CN" dirty="0">
                <a:solidFill>
                  <a:srgbClr val="FF0000"/>
                </a:solidFill>
              </a:rPr>
              <a:t>Ps</a:t>
            </a:r>
            <a:r>
              <a:rPr lang="zh-CN" altLang="en-US" dirty="0">
                <a:solidFill>
                  <a:srgbClr val="FF0000"/>
                </a:solidFill>
              </a:rPr>
              <a:t>、工序选择的顺序需要根据实际工艺来排序，如果工序顺序有误，则在生产过程中会出现</a:t>
            </a:r>
            <a:endParaRPr lang="en-US" altLang="zh-CN" dirty="0">
              <a:solidFill>
                <a:srgbClr val="FF0000"/>
              </a:solidFill>
            </a:endParaRPr>
          </a:p>
          <a:p>
            <a:pPr marL="0" marR="0" indent="0" algn="l" defTabSz="584200" rtl="0" fontAlgn="auto" latinLnBrk="0" hangingPunct="0">
              <a:lnSpc>
                <a:spcPct val="100000"/>
              </a:lnSpc>
              <a:spcBef>
                <a:spcPts val="0"/>
              </a:spcBef>
              <a:spcAft>
                <a:spcPts val="0"/>
              </a:spcAft>
              <a:buClrTx/>
              <a:buSzTx/>
              <a:buFontTx/>
              <a:buNone/>
            </a:pPr>
            <a:r>
              <a:rPr lang="zh-CN" altLang="en-US" dirty="0">
                <a:solidFill>
                  <a:srgbClr val="FF0000"/>
                </a:solidFill>
              </a:rPr>
              <a:t>工序顺序校验不通过的错误。</a:t>
            </a:r>
            <a:endParaRPr lang="en-US" altLang="zh-CN" dirty="0">
              <a:solidFill>
                <a:srgbClr val="FF0000"/>
              </a:solidFill>
            </a:endParaRPr>
          </a:p>
        </p:txBody>
      </p:sp>
      <p:sp>
        <p:nvSpPr>
          <p:cNvPr id="14" name="文本框 13">
            <a:extLst>
              <a:ext uri="{FF2B5EF4-FFF2-40B4-BE49-F238E27FC236}">
                <a16:creationId xmlns:a16="http://schemas.microsoft.com/office/drawing/2014/main" id="{E988DF65-8DCB-4DE3-BCBA-612D68AAA53B}"/>
              </a:ext>
            </a:extLst>
          </p:cNvPr>
          <p:cNvSpPr txBox="1"/>
          <p:nvPr/>
        </p:nvSpPr>
        <p:spPr>
          <a:xfrm>
            <a:off x="2531239" y="8612911"/>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分配工序</a:t>
            </a:r>
          </a:p>
        </p:txBody>
      </p:sp>
      <p:sp>
        <p:nvSpPr>
          <p:cNvPr id="17" name="文本框 16">
            <a:extLst>
              <a:ext uri="{FF2B5EF4-FFF2-40B4-BE49-F238E27FC236}">
                <a16:creationId xmlns:a16="http://schemas.microsoft.com/office/drawing/2014/main" id="{3C129B58-5B56-D523-6A5D-D74FF61A09DD}"/>
              </a:ext>
            </a:extLst>
          </p:cNvPr>
          <p:cNvSpPr txBox="1"/>
          <p:nvPr/>
        </p:nvSpPr>
        <p:spPr>
          <a:xfrm>
            <a:off x="9087505" y="8612978"/>
            <a:ext cx="1025922"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选择工序</a:t>
            </a:r>
          </a:p>
        </p:txBody>
      </p:sp>
      <p:pic>
        <p:nvPicPr>
          <p:cNvPr id="4" name="图片 3">
            <a:extLst>
              <a:ext uri="{FF2B5EF4-FFF2-40B4-BE49-F238E27FC236}">
                <a16:creationId xmlns:a16="http://schemas.microsoft.com/office/drawing/2014/main" id="{75A0273A-EA91-5F72-DD27-E2FBC8D0CC75}"/>
              </a:ext>
            </a:extLst>
          </p:cNvPr>
          <p:cNvPicPr>
            <a:picLocks noChangeAspect="1"/>
          </p:cNvPicPr>
          <p:nvPr/>
        </p:nvPicPr>
        <p:blipFill>
          <a:blip r:embed="rId2"/>
          <a:stretch>
            <a:fillRect/>
          </a:stretch>
        </p:blipFill>
        <p:spPr>
          <a:xfrm>
            <a:off x="1422074" y="4876800"/>
            <a:ext cx="4036378" cy="3736111"/>
          </a:xfrm>
          <a:prstGeom prst="rect">
            <a:avLst/>
          </a:prstGeom>
        </p:spPr>
      </p:pic>
      <p:pic>
        <p:nvPicPr>
          <p:cNvPr id="8" name="图片 7">
            <a:extLst>
              <a:ext uri="{FF2B5EF4-FFF2-40B4-BE49-F238E27FC236}">
                <a16:creationId xmlns:a16="http://schemas.microsoft.com/office/drawing/2014/main" id="{1E4353D3-2E9A-FF79-4F9E-3FE23C7D52CD}"/>
              </a:ext>
            </a:extLst>
          </p:cNvPr>
          <p:cNvPicPr>
            <a:picLocks noChangeAspect="1"/>
          </p:cNvPicPr>
          <p:nvPr/>
        </p:nvPicPr>
        <p:blipFill>
          <a:blip r:embed="rId3"/>
          <a:stretch>
            <a:fillRect/>
          </a:stretch>
        </p:blipFill>
        <p:spPr>
          <a:xfrm>
            <a:off x="7354615" y="4873548"/>
            <a:ext cx="4036378" cy="3756629"/>
          </a:xfrm>
          <a:prstGeom prst="rect">
            <a:avLst/>
          </a:prstGeom>
        </p:spPr>
      </p:pic>
    </p:spTree>
    <p:extLst>
      <p:ext uri="{BB962C8B-B14F-4D97-AF65-F5344CB8AC3E}">
        <p14:creationId xmlns:p14="http://schemas.microsoft.com/office/powerpoint/2010/main" val="386264831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85D68-8739-B11E-DFF8-A903CCF4EC35}"/>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EB73420A-4D07-BDA2-1B02-674D81EFA7FB}"/>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175AC224-C912-B7D2-1BED-98800DEC095A}"/>
              </a:ext>
            </a:extLst>
          </p:cNvPr>
          <p:cNvSpPr txBox="1"/>
          <p:nvPr/>
        </p:nvSpPr>
        <p:spPr>
          <a:xfrm>
            <a:off x="370805" y="1314991"/>
            <a:ext cx="6517810"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a:t>
            </a:r>
            <a:r>
              <a:rPr lang="en-US" altLang="zh-CN" sz="3200" dirty="0"/>
              <a:t>6.4</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r>
              <a:rPr lang="zh-CN" altLang="en-US" sz="3200" dirty="0"/>
              <a:t>为工序添加配方</a:t>
            </a:r>
            <a:r>
              <a:rPr lang="en-US" altLang="zh-CN" sz="3200" dirty="0"/>
              <a:t>-Excel</a:t>
            </a:r>
            <a:r>
              <a:rPr lang="zh-CN" altLang="en-US" sz="3200" dirty="0"/>
              <a:t>导入方式</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5" name="文本框 4">
            <a:extLst>
              <a:ext uri="{FF2B5EF4-FFF2-40B4-BE49-F238E27FC236}">
                <a16:creationId xmlns:a16="http://schemas.microsoft.com/office/drawing/2014/main" id="{5A4D010D-6DFF-8BF8-4AE6-A13A15ABF507}"/>
              </a:ext>
            </a:extLst>
          </p:cNvPr>
          <p:cNvSpPr txBox="1"/>
          <p:nvPr/>
        </p:nvSpPr>
        <p:spPr>
          <a:xfrm>
            <a:off x="364371" y="2036259"/>
            <a:ext cx="12505026" cy="12105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lang="zh-CN" altLang="en-US" dirty="0"/>
              <a:t>进入</a:t>
            </a:r>
            <a:r>
              <a:rPr lang="zh-CN" altLang="en-US" dirty="0">
                <a:highlight>
                  <a:srgbClr val="FFFF00"/>
                </a:highlight>
              </a:rPr>
              <a:t>业务配置</a:t>
            </a:r>
            <a:r>
              <a:rPr lang="en-US" altLang="zh-CN" dirty="0">
                <a:highlight>
                  <a:srgbClr val="FFFF00"/>
                </a:highlight>
              </a:rPr>
              <a:t>-</a:t>
            </a:r>
            <a:r>
              <a:rPr lang="zh-CN" altLang="en-US" dirty="0">
                <a:highlight>
                  <a:srgbClr val="FFFF00"/>
                </a:highlight>
              </a:rPr>
              <a:t>配方管理</a:t>
            </a:r>
            <a:r>
              <a:rPr lang="zh-CN" altLang="en-US" dirty="0"/>
              <a:t>页面，点击导入配方，可以通过将</a:t>
            </a:r>
            <a:r>
              <a:rPr lang="en-US" altLang="zh-CN" dirty="0"/>
              <a:t>Excel</a:t>
            </a:r>
            <a:r>
              <a:rPr lang="zh-CN" altLang="en-US" dirty="0"/>
              <a:t>文件拖入弹窗的指定位置</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solidFill>
                  <a:schemeClr val="tx1"/>
                </a:solidFill>
              </a:rPr>
              <a:t>或者点击弹窗的指定位置在文件选择窗口选择指定的</a:t>
            </a:r>
            <a:r>
              <a:rPr lang="en-US" altLang="zh-CN" dirty="0">
                <a:solidFill>
                  <a:schemeClr val="tx1"/>
                </a:solidFill>
              </a:rPr>
              <a:t>Excel</a:t>
            </a:r>
            <a:r>
              <a:rPr lang="zh-CN" altLang="en-US" dirty="0">
                <a:solidFill>
                  <a:schemeClr val="tx1"/>
                </a:solidFill>
              </a:rPr>
              <a:t>文件。等待文件导入完成后，点击</a:t>
            </a:r>
            <a:endParaRPr lang="en-US" altLang="zh-CN" dirty="0">
              <a:solidFill>
                <a:schemeClr val="tx1"/>
              </a:solidFill>
            </a:endParaRPr>
          </a:p>
          <a:p>
            <a:pPr marL="0" marR="0" indent="0" algn="l" defTabSz="584200" rtl="0" fontAlgn="auto" latinLnBrk="0" hangingPunct="0">
              <a:lnSpc>
                <a:spcPct val="100000"/>
              </a:lnSpc>
              <a:spcBef>
                <a:spcPts val="0"/>
              </a:spcBef>
              <a:spcAft>
                <a:spcPts val="0"/>
              </a:spcAft>
              <a:buClrTx/>
              <a:buSzTx/>
              <a:buFontTx/>
              <a:buNone/>
            </a:pPr>
            <a:r>
              <a:rPr lang="zh-CN" altLang="en-US" dirty="0">
                <a:solidFill>
                  <a:schemeClr val="tx1"/>
                </a:solidFill>
              </a:rPr>
              <a:t>确定。</a:t>
            </a:r>
            <a:endParaRPr lang="en-US" altLang="zh-CN" dirty="0">
              <a:solidFill>
                <a:schemeClr val="tx1"/>
              </a:solidFill>
            </a:endParaRPr>
          </a:p>
        </p:txBody>
      </p:sp>
      <p:pic>
        <p:nvPicPr>
          <p:cNvPr id="6" name="图片 5">
            <a:extLst>
              <a:ext uri="{FF2B5EF4-FFF2-40B4-BE49-F238E27FC236}">
                <a16:creationId xmlns:a16="http://schemas.microsoft.com/office/drawing/2014/main" id="{B4BD40E4-AE43-AC71-9295-F52B15EC879F}"/>
              </a:ext>
            </a:extLst>
          </p:cNvPr>
          <p:cNvPicPr>
            <a:picLocks noChangeAspect="1"/>
          </p:cNvPicPr>
          <p:nvPr/>
        </p:nvPicPr>
        <p:blipFill>
          <a:blip r:embed="rId2"/>
          <a:stretch>
            <a:fillRect/>
          </a:stretch>
        </p:blipFill>
        <p:spPr>
          <a:xfrm>
            <a:off x="370805" y="3607927"/>
            <a:ext cx="4072584" cy="2996073"/>
          </a:xfrm>
          <a:prstGeom prst="rect">
            <a:avLst/>
          </a:prstGeom>
        </p:spPr>
      </p:pic>
      <p:sp>
        <p:nvSpPr>
          <p:cNvPr id="7" name="文本框 6">
            <a:extLst>
              <a:ext uri="{FF2B5EF4-FFF2-40B4-BE49-F238E27FC236}">
                <a16:creationId xmlns:a16="http://schemas.microsoft.com/office/drawing/2014/main" id="{E03E8E42-60A1-6BF4-FADC-2A9F6D338447}"/>
              </a:ext>
            </a:extLst>
          </p:cNvPr>
          <p:cNvSpPr txBox="1"/>
          <p:nvPr/>
        </p:nvSpPr>
        <p:spPr>
          <a:xfrm>
            <a:off x="1517048" y="6604000"/>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配方管理页面</a:t>
            </a:r>
          </a:p>
        </p:txBody>
      </p:sp>
      <p:pic>
        <p:nvPicPr>
          <p:cNvPr id="10" name="图片 9">
            <a:extLst>
              <a:ext uri="{FF2B5EF4-FFF2-40B4-BE49-F238E27FC236}">
                <a16:creationId xmlns:a16="http://schemas.microsoft.com/office/drawing/2014/main" id="{F1E482BB-31B1-0657-4455-0CF1C1721AFE}"/>
              </a:ext>
            </a:extLst>
          </p:cNvPr>
          <p:cNvPicPr>
            <a:picLocks noChangeAspect="1"/>
          </p:cNvPicPr>
          <p:nvPr/>
        </p:nvPicPr>
        <p:blipFill>
          <a:blip r:embed="rId3"/>
          <a:stretch>
            <a:fillRect/>
          </a:stretch>
        </p:blipFill>
        <p:spPr>
          <a:xfrm>
            <a:off x="5589632" y="3607927"/>
            <a:ext cx="4308960" cy="2996073"/>
          </a:xfrm>
          <a:prstGeom prst="rect">
            <a:avLst/>
          </a:prstGeom>
        </p:spPr>
      </p:pic>
      <p:sp>
        <p:nvSpPr>
          <p:cNvPr id="11" name="文本框 10">
            <a:extLst>
              <a:ext uri="{FF2B5EF4-FFF2-40B4-BE49-F238E27FC236}">
                <a16:creationId xmlns:a16="http://schemas.microsoft.com/office/drawing/2014/main" id="{3DC65808-7CCF-031C-8F8F-3CA18F3DB1EB}"/>
              </a:ext>
            </a:extLst>
          </p:cNvPr>
          <p:cNvSpPr txBox="1"/>
          <p:nvPr/>
        </p:nvSpPr>
        <p:spPr>
          <a:xfrm>
            <a:off x="7000318" y="6603999"/>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配方导入弹窗</a:t>
            </a:r>
          </a:p>
        </p:txBody>
      </p:sp>
      <p:pic>
        <p:nvPicPr>
          <p:cNvPr id="13" name="图片 12">
            <a:extLst>
              <a:ext uri="{FF2B5EF4-FFF2-40B4-BE49-F238E27FC236}">
                <a16:creationId xmlns:a16="http://schemas.microsoft.com/office/drawing/2014/main" id="{E4B3BAF0-C559-7549-29E1-780E811F0CBA}"/>
              </a:ext>
            </a:extLst>
          </p:cNvPr>
          <p:cNvPicPr>
            <a:picLocks noChangeAspect="1"/>
          </p:cNvPicPr>
          <p:nvPr/>
        </p:nvPicPr>
        <p:blipFill>
          <a:blip r:embed="rId4"/>
          <a:stretch>
            <a:fillRect/>
          </a:stretch>
        </p:blipFill>
        <p:spPr>
          <a:xfrm>
            <a:off x="364711" y="7038299"/>
            <a:ext cx="11106360" cy="1972839"/>
          </a:xfrm>
          <a:prstGeom prst="rect">
            <a:avLst/>
          </a:prstGeom>
        </p:spPr>
      </p:pic>
      <p:sp>
        <p:nvSpPr>
          <p:cNvPr id="15" name="文本框 14">
            <a:extLst>
              <a:ext uri="{FF2B5EF4-FFF2-40B4-BE49-F238E27FC236}">
                <a16:creationId xmlns:a16="http://schemas.microsoft.com/office/drawing/2014/main" id="{7C51CF2F-E58C-E248-BD40-766C549F2A58}"/>
              </a:ext>
            </a:extLst>
          </p:cNvPr>
          <p:cNvSpPr txBox="1"/>
          <p:nvPr/>
        </p:nvSpPr>
        <p:spPr>
          <a:xfrm>
            <a:off x="5174097" y="9065846"/>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dirty="0">
                <a:ln>
                  <a:noFill/>
                </a:ln>
                <a:solidFill>
                  <a:srgbClr val="000000"/>
                </a:solidFill>
                <a:effectLst/>
                <a:uFillTx/>
                <a:latin typeface="+mn-lt"/>
                <a:ea typeface="+mn-ea"/>
                <a:cs typeface="+mn-cs"/>
                <a:sym typeface="Heiti SC Medium"/>
              </a:rPr>
              <a:t>Excel</a:t>
            </a: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示例</a:t>
            </a:r>
          </a:p>
        </p:txBody>
      </p:sp>
    </p:spTree>
    <p:extLst>
      <p:ext uri="{BB962C8B-B14F-4D97-AF65-F5344CB8AC3E}">
        <p14:creationId xmlns:p14="http://schemas.microsoft.com/office/powerpoint/2010/main" val="289235435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BE953-8C65-F28A-80FD-367BB4A67235}"/>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740B998F-0310-D73D-FDE7-A5D5E06BA836}"/>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6C20187F-5DE2-B388-56DE-7D71FCF742C5}"/>
              </a:ext>
            </a:extLst>
          </p:cNvPr>
          <p:cNvSpPr txBox="1"/>
          <p:nvPr/>
        </p:nvSpPr>
        <p:spPr>
          <a:xfrm>
            <a:off x="370805" y="1314991"/>
            <a:ext cx="6488956"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a:t>
            </a:r>
            <a:r>
              <a:rPr lang="en-US" altLang="zh-CN" sz="3200" dirty="0"/>
              <a:t>6.5</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r>
              <a:rPr lang="zh-CN" altLang="en-US" sz="3200" dirty="0"/>
              <a:t>为工序添加配方</a:t>
            </a:r>
            <a:r>
              <a:rPr lang="en-US" altLang="zh-CN" sz="3200" dirty="0"/>
              <a:t>-</a:t>
            </a:r>
            <a:r>
              <a:rPr lang="zh-CN" altLang="en-US" sz="3200" dirty="0"/>
              <a:t>手动添加方式</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5" name="文本框 4">
            <a:extLst>
              <a:ext uri="{FF2B5EF4-FFF2-40B4-BE49-F238E27FC236}">
                <a16:creationId xmlns:a16="http://schemas.microsoft.com/office/drawing/2014/main" id="{6535A7F1-2CCD-0FE6-B2EA-48EACA4206A8}"/>
              </a:ext>
            </a:extLst>
          </p:cNvPr>
          <p:cNvSpPr txBox="1"/>
          <p:nvPr/>
        </p:nvSpPr>
        <p:spPr>
          <a:xfrm>
            <a:off x="364371" y="2036259"/>
            <a:ext cx="12413655" cy="305724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lang="zh-CN" altLang="en-US" dirty="0"/>
              <a:t>进入</a:t>
            </a:r>
            <a:r>
              <a:rPr lang="zh-CN" altLang="en-US" dirty="0">
                <a:highlight>
                  <a:srgbClr val="FFFF00"/>
                </a:highlight>
              </a:rPr>
              <a:t>业务配置</a:t>
            </a:r>
            <a:r>
              <a:rPr lang="en-US" altLang="zh-CN" dirty="0">
                <a:highlight>
                  <a:srgbClr val="FFFF00"/>
                </a:highlight>
              </a:rPr>
              <a:t>-</a:t>
            </a:r>
            <a:r>
              <a:rPr lang="zh-CN" altLang="en-US" dirty="0">
                <a:highlight>
                  <a:srgbClr val="FFFF00"/>
                </a:highlight>
              </a:rPr>
              <a:t>配方管理</a:t>
            </a:r>
            <a:r>
              <a:rPr lang="zh-CN" altLang="en-US" dirty="0"/>
              <a:t>页面，点击左侧表格中对应的工艺流程（</a:t>
            </a:r>
            <a:r>
              <a:rPr lang="zh-CN" altLang="en-US" dirty="0">
                <a:solidFill>
                  <a:schemeClr val="accent5"/>
                </a:solidFill>
              </a:rPr>
              <a:t>不是点击复选框</a:t>
            </a:r>
            <a:r>
              <a:rPr lang="zh-CN" altLang="en-US" dirty="0"/>
              <a:t>），</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此时右侧会刷新列表，显示此流程下所有需要配方的工序，在右侧表格中选择需要添加配方</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的工序（</a:t>
            </a:r>
            <a:r>
              <a:rPr lang="zh-CN" altLang="en-US" dirty="0">
                <a:solidFill>
                  <a:schemeClr val="accent5"/>
                </a:solidFill>
              </a:rPr>
              <a:t>点击复选框，且只能选择一个</a:t>
            </a:r>
            <a:r>
              <a:rPr lang="zh-CN" altLang="en-US" dirty="0"/>
              <a:t>），点击上方的</a:t>
            </a:r>
            <a:r>
              <a:rPr lang="zh-CN" altLang="en-US" dirty="0">
                <a:highlight>
                  <a:srgbClr val="FFFF00"/>
                </a:highlight>
              </a:rPr>
              <a:t>配方详情</a:t>
            </a:r>
            <a:r>
              <a:rPr lang="zh-CN" altLang="en-US" dirty="0"/>
              <a:t>按钮。进入配方详情页面。</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solidFill>
                  <a:schemeClr val="tx1"/>
                </a:solidFill>
              </a:rPr>
              <a:t>点击添加，在弹窗中输入任务名称，并选择对应的任务类型。点击确认。点击列表中新添加</a:t>
            </a:r>
            <a:endParaRPr lang="en-US" altLang="zh-CN" dirty="0">
              <a:solidFill>
                <a:schemeClr val="tx1"/>
              </a:solidFill>
            </a:endParaRPr>
          </a:p>
          <a:p>
            <a:pPr marL="0" marR="0" indent="0" algn="l" defTabSz="584200" rtl="0" fontAlgn="auto" latinLnBrk="0" hangingPunct="0">
              <a:lnSpc>
                <a:spcPct val="100000"/>
              </a:lnSpc>
              <a:spcBef>
                <a:spcPts val="0"/>
              </a:spcBef>
              <a:spcAft>
                <a:spcPts val="0"/>
              </a:spcAft>
              <a:buClrTx/>
              <a:buSzTx/>
              <a:buFontTx/>
              <a:buNone/>
            </a:pPr>
            <a:r>
              <a:rPr lang="zh-CN" altLang="en-US" dirty="0">
                <a:solidFill>
                  <a:schemeClr val="tx1"/>
                </a:solidFill>
              </a:rPr>
              <a:t>的任务，点击任务详情进入任务详情页面。点击添加，在弹窗中输入任务详情信息（不同任</a:t>
            </a:r>
            <a:endParaRPr lang="en-US" altLang="zh-CN" dirty="0">
              <a:solidFill>
                <a:schemeClr val="tx1"/>
              </a:solidFill>
            </a:endParaRPr>
          </a:p>
          <a:p>
            <a:pPr marL="0" marR="0" indent="0" algn="l" defTabSz="584200" rtl="0" fontAlgn="auto" latinLnBrk="0" hangingPunct="0">
              <a:lnSpc>
                <a:spcPct val="100000"/>
              </a:lnSpc>
              <a:spcBef>
                <a:spcPts val="0"/>
              </a:spcBef>
              <a:spcAft>
                <a:spcPts val="0"/>
              </a:spcAft>
              <a:buClrTx/>
              <a:buSzTx/>
              <a:buFontTx/>
              <a:buNone/>
            </a:pPr>
            <a:r>
              <a:rPr lang="zh-CN" altLang="en-US" dirty="0">
                <a:solidFill>
                  <a:schemeClr val="tx1"/>
                </a:solidFill>
              </a:rPr>
              <a:t>务类型，任务详情页面不同，添加任务详情弹窗也不同）。</a:t>
            </a:r>
            <a:endParaRPr lang="en-US" altLang="zh-CN" dirty="0">
              <a:solidFill>
                <a:schemeClr val="tx1"/>
              </a:solidFill>
            </a:endParaRPr>
          </a:p>
          <a:p>
            <a:pPr marL="0" marR="0" indent="0" algn="l" defTabSz="584200" rtl="0" fontAlgn="auto" latinLnBrk="0" hangingPunct="0">
              <a:lnSpc>
                <a:spcPct val="100000"/>
              </a:lnSpc>
              <a:spcBef>
                <a:spcPts val="0"/>
              </a:spcBef>
              <a:spcAft>
                <a:spcPts val="0"/>
              </a:spcAft>
              <a:buClrTx/>
              <a:buSzTx/>
              <a:buFontTx/>
              <a:buNone/>
            </a:pPr>
            <a:r>
              <a:rPr lang="en-US" altLang="zh-CN" dirty="0">
                <a:solidFill>
                  <a:schemeClr val="accent5"/>
                </a:solidFill>
              </a:rPr>
              <a:t>Ps</a:t>
            </a:r>
            <a:r>
              <a:rPr lang="zh-CN" altLang="en-US" dirty="0">
                <a:solidFill>
                  <a:schemeClr val="accent5"/>
                </a:solidFill>
              </a:rPr>
              <a:t>、人工站除拧紧任务可以配置多个任务详情外，其余只可配置一个任务详情。自动站任务</a:t>
            </a:r>
            <a:endParaRPr lang="en-US" altLang="zh-CN" dirty="0">
              <a:solidFill>
                <a:schemeClr val="accent5"/>
              </a:solidFill>
            </a:endParaRPr>
          </a:p>
          <a:p>
            <a:pPr marL="0" marR="0" indent="0" algn="l" defTabSz="584200" rtl="0" fontAlgn="auto" latinLnBrk="0" hangingPunct="0">
              <a:lnSpc>
                <a:spcPct val="100000"/>
              </a:lnSpc>
              <a:spcBef>
                <a:spcPts val="0"/>
              </a:spcBef>
              <a:spcAft>
                <a:spcPts val="0"/>
              </a:spcAft>
              <a:buClrTx/>
              <a:buSzTx/>
              <a:buFontTx/>
              <a:buNone/>
            </a:pPr>
            <a:r>
              <a:rPr lang="zh-CN" altLang="en-US" dirty="0">
                <a:solidFill>
                  <a:schemeClr val="accent5"/>
                </a:solidFill>
              </a:rPr>
              <a:t>可以配置多个任务详情。</a:t>
            </a:r>
            <a:endParaRPr lang="en-US" altLang="zh-CN" dirty="0">
              <a:solidFill>
                <a:schemeClr val="accent5"/>
              </a:solidFill>
            </a:endParaRPr>
          </a:p>
        </p:txBody>
      </p:sp>
      <p:pic>
        <p:nvPicPr>
          <p:cNvPr id="4" name="图片 3">
            <a:extLst>
              <a:ext uri="{FF2B5EF4-FFF2-40B4-BE49-F238E27FC236}">
                <a16:creationId xmlns:a16="http://schemas.microsoft.com/office/drawing/2014/main" id="{BA3056F0-AB67-FF60-3AE8-56EE514D2759}"/>
              </a:ext>
            </a:extLst>
          </p:cNvPr>
          <p:cNvPicPr>
            <a:picLocks noChangeAspect="1"/>
          </p:cNvPicPr>
          <p:nvPr/>
        </p:nvPicPr>
        <p:blipFill>
          <a:blip r:embed="rId2"/>
          <a:stretch>
            <a:fillRect/>
          </a:stretch>
        </p:blipFill>
        <p:spPr>
          <a:xfrm>
            <a:off x="370805" y="5158543"/>
            <a:ext cx="5557429" cy="1937826"/>
          </a:xfrm>
          <a:prstGeom prst="rect">
            <a:avLst/>
          </a:prstGeom>
        </p:spPr>
      </p:pic>
      <p:sp>
        <p:nvSpPr>
          <p:cNvPr id="8" name="文本框 7">
            <a:extLst>
              <a:ext uri="{FF2B5EF4-FFF2-40B4-BE49-F238E27FC236}">
                <a16:creationId xmlns:a16="http://schemas.microsoft.com/office/drawing/2014/main" id="{3286544D-B8A9-C1DA-264A-EFBC5D316F55}"/>
              </a:ext>
            </a:extLst>
          </p:cNvPr>
          <p:cNvSpPr txBox="1"/>
          <p:nvPr/>
        </p:nvSpPr>
        <p:spPr>
          <a:xfrm>
            <a:off x="2405725" y="6971610"/>
            <a:ext cx="1487587"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配方详情页面</a:t>
            </a:r>
          </a:p>
        </p:txBody>
      </p:sp>
      <p:pic>
        <p:nvPicPr>
          <p:cNvPr id="12" name="图片 11">
            <a:extLst>
              <a:ext uri="{FF2B5EF4-FFF2-40B4-BE49-F238E27FC236}">
                <a16:creationId xmlns:a16="http://schemas.microsoft.com/office/drawing/2014/main" id="{A32C34BC-32F8-5871-DE22-4B8ECA2B5680}"/>
              </a:ext>
            </a:extLst>
          </p:cNvPr>
          <p:cNvPicPr>
            <a:picLocks noChangeAspect="1"/>
          </p:cNvPicPr>
          <p:nvPr/>
        </p:nvPicPr>
        <p:blipFill>
          <a:blip r:embed="rId3"/>
          <a:stretch>
            <a:fillRect/>
          </a:stretch>
        </p:blipFill>
        <p:spPr>
          <a:xfrm>
            <a:off x="6859761" y="5164076"/>
            <a:ext cx="3570689" cy="1742496"/>
          </a:xfrm>
          <a:prstGeom prst="rect">
            <a:avLst/>
          </a:prstGeom>
        </p:spPr>
      </p:pic>
      <p:sp>
        <p:nvSpPr>
          <p:cNvPr id="14" name="文本框 13">
            <a:extLst>
              <a:ext uri="{FF2B5EF4-FFF2-40B4-BE49-F238E27FC236}">
                <a16:creationId xmlns:a16="http://schemas.microsoft.com/office/drawing/2014/main" id="{B4039134-8EB3-2558-B0AD-1F5B7CA69FB7}"/>
              </a:ext>
            </a:extLst>
          </p:cNvPr>
          <p:cNvSpPr txBox="1"/>
          <p:nvPr/>
        </p:nvSpPr>
        <p:spPr>
          <a:xfrm>
            <a:off x="7833509" y="6971609"/>
            <a:ext cx="2107659" cy="37959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dirty="0">
                <a:ln>
                  <a:noFill/>
                </a:ln>
                <a:solidFill>
                  <a:srgbClr val="000000"/>
                </a:solidFill>
                <a:effectLst/>
                <a:uFillTx/>
                <a:latin typeface="+mn-lt"/>
                <a:ea typeface="+mn-ea"/>
                <a:cs typeface="+mn-cs"/>
                <a:sym typeface="Heiti SC Medium"/>
              </a:rPr>
              <a:t>添加配方详情页面</a:t>
            </a:r>
          </a:p>
        </p:txBody>
      </p:sp>
      <p:pic>
        <p:nvPicPr>
          <p:cNvPr id="17" name="图片 16">
            <a:extLst>
              <a:ext uri="{FF2B5EF4-FFF2-40B4-BE49-F238E27FC236}">
                <a16:creationId xmlns:a16="http://schemas.microsoft.com/office/drawing/2014/main" id="{A56976C2-6B7E-1CCA-1E75-00B455F3E1AC}"/>
              </a:ext>
            </a:extLst>
          </p:cNvPr>
          <p:cNvPicPr>
            <a:picLocks noChangeAspect="1"/>
          </p:cNvPicPr>
          <p:nvPr/>
        </p:nvPicPr>
        <p:blipFill>
          <a:blip r:embed="rId4"/>
          <a:stretch>
            <a:fillRect/>
          </a:stretch>
        </p:blipFill>
        <p:spPr>
          <a:xfrm>
            <a:off x="807720" y="7558852"/>
            <a:ext cx="3656541" cy="1605416"/>
          </a:xfrm>
          <a:prstGeom prst="rect">
            <a:avLst/>
          </a:prstGeom>
        </p:spPr>
      </p:pic>
      <p:pic>
        <p:nvPicPr>
          <p:cNvPr id="19" name="图片 18">
            <a:extLst>
              <a:ext uri="{FF2B5EF4-FFF2-40B4-BE49-F238E27FC236}">
                <a16:creationId xmlns:a16="http://schemas.microsoft.com/office/drawing/2014/main" id="{AFF8A462-C727-DAEB-8C5C-34053E353142}"/>
              </a:ext>
            </a:extLst>
          </p:cNvPr>
          <p:cNvPicPr>
            <a:picLocks noChangeAspect="1"/>
          </p:cNvPicPr>
          <p:nvPr/>
        </p:nvPicPr>
        <p:blipFill>
          <a:blip r:embed="rId5"/>
          <a:stretch>
            <a:fillRect/>
          </a:stretch>
        </p:blipFill>
        <p:spPr>
          <a:xfrm>
            <a:off x="4796074" y="7399873"/>
            <a:ext cx="2816112" cy="1764395"/>
          </a:xfrm>
          <a:prstGeom prst="rect">
            <a:avLst/>
          </a:prstGeom>
        </p:spPr>
      </p:pic>
    </p:spTree>
    <p:extLst>
      <p:ext uri="{BB962C8B-B14F-4D97-AF65-F5344CB8AC3E}">
        <p14:creationId xmlns:p14="http://schemas.microsoft.com/office/powerpoint/2010/main" val="429450882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05365-0697-296B-822D-0D610328BB65}"/>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D9557492-A652-C20D-4E5B-08BCAC4736B5}"/>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4C5347D8-6D3B-306E-9EEA-E4DD8670880A}"/>
              </a:ext>
            </a:extLst>
          </p:cNvPr>
          <p:cNvSpPr txBox="1"/>
          <p:nvPr/>
        </p:nvSpPr>
        <p:spPr>
          <a:xfrm>
            <a:off x="370805" y="1314991"/>
            <a:ext cx="6488956"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a:t>
            </a:r>
            <a:r>
              <a:rPr lang="en-US" altLang="zh-CN" sz="3200" dirty="0"/>
              <a:t>6.6</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r>
              <a:rPr lang="zh-CN" altLang="en-US" sz="3200" dirty="0"/>
              <a:t>为工序添加配方</a:t>
            </a:r>
            <a:r>
              <a:rPr lang="en-US" altLang="zh-CN" sz="3200" dirty="0"/>
              <a:t>-</a:t>
            </a:r>
            <a:r>
              <a:rPr lang="zh-CN" altLang="en-US" sz="3200" dirty="0"/>
              <a:t>配方注意事项</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6" name="文本框 5">
            <a:extLst>
              <a:ext uri="{FF2B5EF4-FFF2-40B4-BE49-F238E27FC236}">
                <a16:creationId xmlns:a16="http://schemas.microsoft.com/office/drawing/2014/main" id="{7ABE7DB9-545A-FF0C-A209-191F0E4E68B3}"/>
              </a:ext>
            </a:extLst>
          </p:cNvPr>
          <p:cNvSpPr txBox="1"/>
          <p:nvPr/>
        </p:nvSpPr>
        <p:spPr>
          <a:xfrm>
            <a:off x="370805" y="2631927"/>
            <a:ext cx="12154897" cy="3795911"/>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可添加的任务类型有：</a:t>
            </a:r>
            <a:r>
              <a:rPr kumimoji="0" lang="zh-CN" altLang="en-US" sz="2400" b="0" i="0" u="none" strike="noStrike" cap="none" spc="0" normalizeH="0" baseline="0" dirty="0">
                <a:ln>
                  <a:noFill/>
                </a:ln>
                <a:solidFill>
                  <a:schemeClr val="accent5"/>
                </a:solidFill>
                <a:effectLst/>
                <a:uFillTx/>
                <a:latin typeface="+mn-lt"/>
                <a:ea typeface="+mn-ea"/>
                <a:cs typeface="+mn-cs"/>
                <a:sym typeface="Heiti SC Medium"/>
              </a:rPr>
              <a:t>扫描员工卡、扫码、拧螺丝、扫码输入、用户输入、超时检测、时间记录、称重、补拧、放行、模组入箱、自动涂胶、自动拧紧、自动加压</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zh-CN" altLang="en-US" dirty="0"/>
              <a:t>其中</a:t>
            </a:r>
            <a:r>
              <a:rPr kumimoji="0" lang="zh-CN" altLang="en-US" sz="2400" b="0" i="0" u="none" strike="noStrike" cap="none" spc="0" normalizeH="0" baseline="0" dirty="0">
                <a:ln>
                  <a:noFill/>
                </a:ln>
                <a:solidFill>
                  <a:schemeClr val="accent5"/>
                </a:solidFill>
                <a:effectLst/>
                <a:uFillTx/>
                <a:latin typeface="+mn-lt"/>
                <a:ea typeface="+mn-ea"/>
                <a:cs typeface="+mn-cs"/>
                <a:sym typeface="Heiti SC Medium"/>
              </a:rPr>
              <a:t>模组入箱、自动涂胶、自动拧紧、自动加压</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为</a:t>
            </a:r>
            <a:r>
              <a:rPr kumimoji="0" lang="zh-CN" altLang="en-US" sz="2400" b="0" i="0" u="none" strike="noStrike" cap="none" spc="0" normalizeH="0" baseline="0" dirty="0">
                <a:ln>
                  <a:noFill/>
                </a:ln>
                <a:solidFill>
                  <a:schemeClr val="accent5"/>
                </a:solidFill>
                <a:effectLst/>
                <a:uFillTx/>
                <a:latin typeface="+mn-lt"/>
                <a:ea typeface="+mn-ea"/>
                <a:cs typeface="+mn-cs"/>
                <a:sym typeface="Heiti SC Medium"/>
              </a:rPr>
              <a:t>自动工位</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任务，不可在人工工位配置。</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同时</a:t>
            </a:r>
            <a:r>
              <a:rPr lang="zh-CN" altLang="en-US" dirty="0"/>
              <a:t>自动工位目前只支持</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超时检测、时间记录的人工位任务。</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扫码任务详情有三种物料消耗方式：扫库存（一般为厂内生产的物料，如模组、高压盒等）、批追（没</a:t>
            </a:r>
            <a:r>
              <a:rPr lang="zh-CN" altLang="en-US" dirty="0"/>
              <a:t>有外部序列的物料但有仓库批次的物料</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）、精追（有外部序列号，且有仓库批次的物料）。</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dirty="0"/>
              <a:t>	</a:t>
            </a:r>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所有工序的任务均以扫描员工卡任务开始，以放行任务结束。</a:t>
            </a:r>
            <a:endParaRPr kumimoji="0" lang="zh-CN" altLang="en-US" sz="2400" b="0" i="0" u="none" strike="noStrike" cap="none" spc="0" normalizeH="0" baseline="0" dirty="0">
              <a:ln>
                <a:noFill/>
              </a:ln>
              <a:solidFill>
                <a:srgbClr val="000000"/>
              </a:solidFill>
              <a:effectLst/>
              <a:uFillTx/>
              <a:latin typeface="+mn-lt"/>
              <a:ea typeface="+mn-ea"/>
              <a:cs typeface="+mn-cs"/>
              <a:sym typeface="Heiti SC Medium"/>
            </a:endParaRPr>
          </a:p>
        </p:txBody>
      </p:sp>
    </p:spTree>
    <p:extLst>
      <p:ext uri="{BB962C8B-B14F-4D97-AF65-F5344CB8AC3E}">
        <p14:creationId xmlns:p14="http://schemas.microsoft.com/office/powerpoint/2010/main" val="424029889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29F4D-95C4-4487-F302-4FFA224FFB22}"/>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DA9AB079-9176-13F7-0328-21A07442A785}"/>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4335A945-9365-4665-51ED-940F74C0FA9F}"/>
              </a:ext>
            </a:extLst>
          </p:cNvPr>
          <p:cNvSpPr txBox="1"/>
          <p:nvPr/>
        </p:nvSpPr>
        <p:spPr>
          <a:xfrm>
            <a:off x="370805" y="1314991"/>
            <a:ext cx="4124527"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3.7 </a:t>
            </a:r>
            <a:r>
              <a:rPr kumimoji="0" lang="zh-CN" altLang="en-US" sz="3200" b="0" i="0" u="none" strike="noStrike" cap="none" spc="0" normalizeH="0" baseline="0" dirty="0">
                <a:ln>
                  <a:noFill/>
                </a:ln>
                <a:solidFill>
                  <a:srgbClr val="000000"/>
                </a:solidFill>
                <a:effectLst/>
                <a:uFillTx/>
                <a:latin typeface="+mn-lt"/>
                <a:ea typeface="+mn-ea"/>
                <a:cs typeface="+mn-cs"/>
                <a:sym typeface="Heiti SC Medium"/>
              </a:rPr>
              <a:t>配方管理</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a:t>
            </a:r>
            <a:r>
              <a:rPr kumimoji="0" lang="zh-CN" altLang="en-US" sz="3200" b="0" i="0" u="none" strike="noStrike" cap="none" spc="0" normalizeH="0" baseline="0" dirty="0">
                <a:ln>
                  <a:noFill/>
                </a:ln>
                <a:solidFill>
                  <a:srgbClr val="000000"/>
                </a:solidFill>
                <a:effectLst/>
                <a:uFillTx/>
                <a:latin typeface="+mn-lt"/>
                <a:ea typeface="+mn-ea"/>
                <a:cs typeface="+mn-cs"/>
                <a:sym typeface="Heiti SC Medium"/>
              </a:rPr>
              <a:t>修改配方</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3" name="文本框 2">
            <a:extLst>
              <a:ext uri="{FF2B5EF4-FFF2-40B4-BE49-F238E27FC236}">
                <a16:creationId xmlns:a16="http://schemas.microsoft.com/office/drawing/2014/main" id="{14434C17-2D85-32D6-6708-A623A70889C8}"/>
              </a:ext>
            </a:extLst>
          </p:cNvPr>
          <p:cNvSpPr txBox="1"/>
          <p:nvPr/>
        </p:nvSpPr>
        <p:spPr>
          <a:xfrm>
            <a:off x="370805" y="2214969"/>
            <a:ext cx="12413655" cy="3426579"/>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修改产品：在产品页面勾选需要修改的产品，点击编辑，在弹窗中修改内容（一般不用修</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改）</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修改工艺路线：在工艺路线页面选择需要修改的工艺路线，点击编辑（一般只会修改工序，</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修改方式与添加工序方式一致）。</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zh-CN" altLang="en-US" dirty="0"/>
              <a:t>修改配方：进入配方管理页面，点击左侧对应的工艺路线，在右侧的工序表中，勾选对应的</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工序点击配方详情，选择需要修改的配方（修改任务类型或名称则点击编辑），点击任务</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详情选择一行点击编辑（一般多用于修改扫码规则）。</a:t>
            </a:r>
            <a:endParaRPr lang="en-US" altLang="zh-CN" dirty="0"/>
          </a:p>
          <a:p>
            <a:pPr marL="0" marR="0" indent="0" algn="l" defTabSz="584200" rtl="0" fontAlgn="auto" latinLnBrk="0" hangingPunct="0">
              <a:lnSpc>
                <a:spcPct val="100000"/>
              </a:lnSpc>
              <a:spcBef>
                <a:spcPts val="0"/>
              </a:spcBef>
              <a:spcAft>
                <a:spcPts val="0"/>
              </a:spcAft>
              <a:buClrTx/>
              <a:buSzTx/>
              <a:buFontTx/>
              <a:buNone/>
            </a:pP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en-US" altLang="zh-CN" dirty="0">
                <a:solidFill>
                  <a:schemeClr val="accent5"/>
                </a:solidFill>
              </a:rPr>
              <a:t>Ps</a:t>
            </a:r>
            <a:r>
              <a:rPr lang="zh-CN" altLang="en-US" dirty="0">
                <a:solidFill>
                  <a:schemeClr val="accent5"/>
                </a:solidFill>
              </a:rPr>
              <a:t>、修改配方慎用导入配方，尤其在生产过程中，否则会导致无法挽回的后果。</a:t>
            </a:r>
            <a:endParaRPr lang="en-US" altLang="zh-CN" dirty="0">
              <a:solidFill>
                <a:schemeClr val="accent5"/>
              </a:solidFill>
            </a:endParaRPr>
          </a:p>
        </p:txBody>
      </p:sp>
    </p:spTree>
    <p:extLst>
      <p:ext uri="{BB962C8B-B14F-4D97-AF65-F5344CB8AC3E}">
        <p14:creationId xmlns:p14="http://schemas.microsoft.com/office/powerpoint/2010/main" val="187192989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0E8F8-D459-007B-048D-8A666FD2017E}"/>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71819A03-B35B-2606-169F-C46975299E75}"/>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3B9ED1FA-4A67-83DB-759C-C86BEB176583}"/>
              </a:ext>
            </a:extLst>
          </p:cNvPr>
          <p:cNvSpPr txBox="1"/>
          <p:nvPr/>
        </p:nvSpPr>
        <p:spPr>
          <a:xfrm>
            <a:off x="370805" y="1314991"/>
            <a:ext cx="2358018"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a:t>
            </a:r>
            <a:r>
              <a:rPr lang="en-US" altLang="zh-CN" sz="3200" dirty="0"/>
              <a:t>8</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3200" b="0" i="0" u="none" strike="noStrike" cap="none" spc="0" normalizeH="0" baseline="0" dirty="0">
                <a:ln>
                  <a:noFill/>
                </a:ln>
                <a:solidFill>
                  <a:srgbClr val="000000"/>
                </a:solidFill>
                <a:effectLst/>
                <a:uFillTx/>
                <a:latin typeface="+mn-lt"/>
                <a:ea typeface="+mn-ea"/>
                <a:cs typeface="+mn-cs"/>
                <a:sym typeface="Heiti SC Medium"/>
              </a:rPr>
              <a:t>数据查询</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4" name="文本框 3">
            <a:extLst>
              <a:ext uri="{FF2B5EF4-FFF2-40B4-BE49-F238E27FC236}">
                <a16:creationId xmlns:a16="http://schemas.microsoft.com/office/drawing/2014/main" id="{43982CA7-E9B2-E425-0768-DBBCA6E72608}"/>
              </a:ext>
            </a:extLst>
          </p:cNvPr>
          <p:cNvSpPr txBox="1"/>
          <p:nvPr/>
        </p:nvSpPr>
        <p:spPr>
          <a:xfrm>
            <a:off x="277020" y="2096930"/>
            <a:ext cx="12040156" cy="84125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进入对应的数据查询页面，在上方的输入框中输入</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Pack</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码，以及工位号（</a:t>
            </a:r>
            <a:r>
              <a:rPr lang="zh-CN" altLang="en-US" dirty="0"/>
              <a:t>如果有</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）点</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击查询，则可以查询出对应的数据。</a:t>
            </a:r>
          </a:p>
        </p:txBody>
      </p:sp>
      <p:pic>
        <p:nvPicPr>
          <p:cNvPr id="6" name="图片 5">
            <a:extLst>
              <a:ext uri="{FF2B5EF4-FFF2-40B4-BE49-F238E27FC236}">
                <a16:creationId xmlns:a16="http://schemas.microsoft.com/office/drawing/2014/main" id="{195F2679-80AC-4F15-031A-70D72DCF71A3}"/>
              </a:ext>
            </a:extLst>
          </p:cNvPr>
          <p:cNvPicPr>
            <a:picLocks noChangeAspect="1"/>
          </p:cNvPicPr>
          <p:nvPr/>
        </p:nvPicPr>
        <p:blipFill>
          <a:blip r:embed="rId2"/>
          <a:stretch>
            <a:fillRect/>
          </a:stretch>
        </p:blipFill>
        <p:spPr>
          <a:xfrm>
            <a:off x="277020" y="3374396"/>
            <a:ext cx="4958423" cy="4282274"/>
          </a:xfrm>
          <a:prstGeom prst="rect">
            <a:avLst/>
          </a:prstGeom>
        </p:spPr>
      </p:pic>
      <p:pic>
        <p:nvPicPr>
          <p:cNvPr id="8" name="图片 7">
            <a:extLst>
              <a:ext uri="{FF2B5EF4-FFF2-40B4-BE49-F238E27FC236}">
                <a16:creationId xmlns:a16="http://schemas.microsoft.com/office/drawing/2014/main" id="{D937FDE3-E6E2-EF9D-731C-B53DC7047643}"/>
              </a:ext>
            </a:extLst>
          </p:cNvPr>
          <p:cNvPicPr>
            <a:picLocks noChangeAspect="1"/>
          </p:cNvPicPr>
          <p:nvPr/>
        </p:nvPicPr>
        <p:blipFill>
          <a:blip r:embed="rId3"/>
          <a:stretch>
            <a:fillRect/>
          </a:stretch>
        </p:blipFill>
        <p:spPr>
          <a:xfrm>
            <a:off x="5773822" y="3374396"/>
            <a:ext cx="6224533" cy="1723717"/>
          </a:xfrm>
          <a:prstGeom prst="rect">
            <a:avLst/>
          </a:prstGeom>
        </p:spPr>
      </p:pic>
      <p:pic>
        <p:nvPicPr>
          <p:cNvPr id="10" name="图片 9">
            <a:extLst>
              <a:ext uri="{FF2B5EF4-FFF2-40B4-BE49-F238E27FC236}">
                <a16:creationId xmlns:a16="http://schemas.microsoft.com/office/drawing/2014/main" id="{D2AB1BA6-D4BC-213C-BFA3-5E5C8362E230}"/>
              </a:ext>
            </a:extLst>
          </p:cNvPr>
          <p:cNvPicPr>
            <a:picLocks noChangeAspect="1"/>
          </p:cNvPicPr>
          <p:nvPr/>
        </p:nvPicPr>
        <p:blipFill>
          <a:blip r:embed="rId4"/>
          <a:stretch>
            <a:fillRect/>
          </a:stretch>
        </p:blipFill>
        <p:spPr>
          <a:xfrm>
            <a:off x="5898868" y="5479146"/>
            <a:ext cx="6224533" cy="3557785"/>
          </a:xfrm>
          <a:prstGeom prst="rect">
            <a:avLst/>
          </a:prstGeom>
        </p:spPr>
      </p:pic>
    </p:spTree>
    <p:extLst>
      <p:ext uri="{BB962C8B-B14F-4D97-AF65-F5344CB8AC3E}">
        <p14:creationId xmlns:p14="http://schemas.microsoft.com/office/powerpoint/2010/main" val="44010112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E6509-3D2F-C0C7-FE01-BBF3A1B64A57}"/>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D097793D-5D0D-26EA-4223-24BED7C400A3}"/>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5A66BFF4-245C-65DE-573C-B2FA8D5C854B}"/>
              </a:ext>
            </a:extLst>
          </p:cNvPr>
          <p:cNvSpPr txBox="1"/>
          <p:nvPr/>
        </p:nvSpPr>
        <p:spPr>
          <a:xfrm>
            <a:off x="370805" y="1314991"/>
            <a:ext cx="3178755"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3.9 </a:t>
            </a:r>
            <a:r>
              <a:rPr kumimoji="0" lang="zh-CN" altLang="en-US" sz="3200" b="0" i="0" u="none" strike="noStrike" cap="none" spc="0" normalizeH="0" baseline="0" dirty="0">
                <a:ln>
                  <a:noFill/>
                </a:ln>
                <a:solidFill>
                  <a:srgbClr val="000000"/>
                </a:solidFill>
                <a:effectLst/>
                <a:uFillTx/>
                <a:latin typeface="+mn-lt"/>
                <a:ea typeface="+mn-ea"/>
                <a:cs typeface="+mn-cs"/>
                <a:sym typeface="Heiti SC Medium"/>
              </a:rPr>
              <a:t>返工必备操作</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4" name="文本框 3">
            <a:extLst>
              <a:ext uri="{FF2B5EF4-FFF2-40B4-BE49-F238E27FC236}">
                <a16:creationId xmlns:a16="http://schemas.microsoft.com/office/drawing/2014/main" id="{70C8EEE4-3682-9D2C-AEC4-FB28D87252FE}"/>
              </a:ext>
            </a:extLst>
          </p:cNvPr>
          <p:cNvSpPr txBox="1"/>
          <p:nvPr/>
        </p:nvSpPr>
        <p:spPr>
          <a:xfrm>
            <a:off x="277020" y="2096930"/>
            <a:ext cx="12432891" cy="194925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进入</a:t>
            </a:r>
            <a:r>
              <a:rPr kumimoji="0" lang="zh-CN" altLang="en-US" sz="2400" b="0" i="0" u="none" strike="noStrike" cap="none" spc="0" normalizeH="0" baseline="0" dirty="0">
                <a:ln>
                  <a:noFill/>
                </a:ln>
                <a:solidFill>
                  <a:srgbClr val="000000"/>
                </a:solidFill>
                <a:effectLst/>
                <a:highlight>
                  <a:srgbClr val="FFFF00"/>
                </a:highlight>
                <a:uFillTx/>
                <a:latin typeface="+mn-lt"/>
                <a:ea typeface="+mn-ea"/>
                <a:cs typeface="+mn-cs"/>
                <a:sym typeface="Heiti SC Medium"/>
              </a:rPr>
              <a:t>工位状态</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页面，输入</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PACK</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码后点击查询，在下方列表中，找到对应工位的数据，点</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击</a:t>
            </a:r>
            <a:r>
              <a:rPr kumimoji="0" lang="zh-CN" altLang="en-US" sz="2400" b="0" i="0" u="none" strike="noStrike" cap="none" spc="0" normalizeH="0" baseline="0" dirty="0">
                <a:ln>
                  <a:noFill/>
                </a:ln>
                <a:solidFill>
                  <a:schemeClr val="accent5"/>
                </a:solidFill>
                <a:effectLst/>
                <a:uFillTx/>
                <a:latin typeface="+mn-lt"/>
                <a:ea typeface="+mn-ea"/>
                <a:cs typeface="+mn-cs"/>
                <a:sym typeface="Heiti SC Medium"/>
              </a:rPr>
              <a:t>设置未完工</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后，再去工位上扫码，否则会报错均已完工，或者上层为未完工的情况下会出</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现工位顺序有误。</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dirty="0"/>
              <a:t>Ps</a:t>
            </a:r>
            <a:r>
              <a:rPr lang="zh-CN" altLang="en-US" dirty="0"/>
              <a:t>、此页面可以不仅可以设置未完工，也可将未完工的工位设置已完工，如果出现前置工序</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未完工的情况，请确认后在此页面将对应工位设置完工</a:t>
            </a:r>
            <a:endParaRPr lang="en-US" altLang="zh-CN" dirty="0"/>
          </a:p>
        </p:txBody>
      </p:sp>
      <p:pic>
        <p:nvPicPr>
          <p:cNvPr id="9" name="图片 8">
            <a:extLst>
              <a:ext uri="{FF2B5EF4-FFF2-40B4-BE49-F238E27FC236}">
                <a16:creationId xmlns:a16="http://schemas.microsoft.com/office/drawing/2014/main" id="{9F7C76F2-035A-BC1F-4FA1-76BABD11BD14}"/>
              </a:ext>
            </a:extLst>
          </p:cNvPr>
          <p:cNvPicPr>
            <a:picLocks noChangeAspect="1"/>
          </p:cNvPicPr>
          <p:nvPr/>
        </p:nvPicPr>
        <p:blipFill>
          <a:blip r:embed="rId2"/>
          <a:stretch>
            <a:fillRect/>
          </a:stretch>
        </p:blipFill>
        <p:spPr>
          <a:xfrm>
            <a:off x="277020" y="4533564"/>
            <a:ext cx="12172267" cy="3905046"/>
          </a:xfrm>
          <a:prstGeom prst="rect">
            <a:avLst/>
          </a:prstGeom>
        </p:spPr>
      </p:pic>
    </p:spTree>
    <p:extLst>
      <p:ext uri="{BB962C8B-B14F-4D97-AF65-F5344CB8AC3E}">
        <p14:creationId xmlns:p14="http://schemas.microsoft.com/office/powerpoint/2010/main" val="124560818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70DD5-99DE-B236-4314-49D53BBEE1D7}"/>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E1EA0C2E-3160-43E4-CA87-4E32C9A5B910}"/>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A1D5449B-06E8-EA33-F007-8726688AE82A}"/>
              </a:ext>
            </a:extLst>
          </p:cNvPr>
          <p:cNvSpPr txBox="1"/>
          <p:nvPr/>
        </p:nvSpPr>
        <p:spPr>
          <a:xfrm>
            <a:off x="370805" y="1314991"/>
            <a:ext cx="2475037"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a:t>
            </a:r>
            <a:r>
              <a:rPr lang="en-US" altLang="zh-CN" sz="3200" dirty="0"/>
              <a:t>10</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AGV</a:t>
            </a:r>
            <a:r>
              <a:rPr lang="zh-CN" altLang="en-US" sz="3200" dirty="0"/>
              <a:t>管理</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4" name="文本框 3">
            <a:extLst>
              <a:ext uri="{FF2B5EF4-FFF2-40B4-BE49-F238E27FC236}">
                <a16:creationId xmlns:a16="http://schemas.microsoft.com/office/drawing/2014/main" id="{FB720C5F-1208-973C-E23B-998BAB3FC503}"/>
              </a:ext>
            </a:extLst>
          </p:cNvPr>
          <p:cNvSpPr txBox="1"/>
          <p:nvPr/>
        </p:nvSpPr>
        <p:spPr>
          <a:xfrm>
            <a:off x="277020" y="2096930"/>
            <a:ext cx="12351138" cy="231858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进入</a:t>
            </a:r>
            <a:r>
              <a:rPr kumimoji="0" lang="en-US" altLang="zh-CN" sz="2400" b="0" i="0" u="none" strike="noStrike" cap="none" spc="0" normalizeH="0" baseline="0" dirty="0">
                <a:ln>
                  <a:noFill/>
                </a:ln>
                <a:solidFill>
                  <a:srgbClr val="000000"/>
                </a:solidFill>
                <a:effectLst/>
                <a:highlight>
                  <a:srgbClr val="FFFF00"/>
                </a:highlight>
                <a:uFillTx/>
                <a:latin typeface="+mn-lt"/>
                <a:ea typeface="+mn-ea"/>
                <a:cs typeface="+mn-cs"/>
                <a:sym typeface="Heiti SC Medium"/>
              </a:rPr>
              <a:t>AGV</a:t>
            </a:r>
            <a:r>
              <a:rPr kumimoji="0" lang="zh-CN" altLang="en-US" sz="2400" b="0" i="0" u="none" strike="noStrike" cap="none" spc="0" normalizeH="0" baseline="0" dirty="0">
                <a:ln>
                  <a:noFill/>
                </a:ln>
                <a:solidFill>
                  <a:srgbClr val="000000"/>
                </a:solidFill>
                <a:effectLst/>
                <a:highlight>
                  <a:srgbClr val="FFFF00"/>
                </a:highlight>
                <a:uFillTx/>
                <a:latin typeface="+mn-lt"/>
                <a:ea typeface="+mn-ea"/>
                <a:cs typeface="+mn-cs"/>
                <a:sym typeface="Heiti SC Medium"/>
              </a:rPr>
              <a:t>状态监控</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页面，此页面可以进行</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AGV</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绑定与解绑，手动到站与离站，以及</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AGV</a:t>
            </a: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放行操作。</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当手动换车后，可以找到对应的车号点击后面的绑定按钮，输入</a:t>
            </a:r>
            <a:r>
              <a:rPr lang="en-US" altLang="zh-CN" dirty="0"/>
              <a:t>pack</a:t>
            </a:r>
            <a:r>
              <a:rPr lang="zh-CN" altLang="en-US" dirty="0"/>
              <a:t>码等信息后，实现</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en-US" altLang="zh-CN" dirty="0"/>
              <a:t>AGV</a:t>
            </a:r>
            <a:r>
              <a:rPr lang="zh-CN" altLang="en-US" dirty="0"/>
              <a:t>手动绑定操作。</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如果出现</a:t>
            </a:r>
            <a:r>
              <a:rPr lang="en-US" altLang="zh-CN" dirty="0"/>
              <a:t>AGV</a:t>
            </a:r>
            <a:r>
              <a:rPr lang="zh-CN" altLang="en-US" dirty="0"/>
              <a:t>到站后，没有上报到站信息，也可以通过对应小车后的手动到站按钮，输</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入到站工位号实现手动到站功能（一般用于</a:t>
            </a:r>
            <a:r>
              <a:rPr lang="en-US" altLang="zh-CN" dirty="0"/>
              <a:t>AGV</a:t>
            </a:r>
            <a:r>
              <a:rPr lang="zh-CN" altLang="en-US" dirty="0"/>
              <a:t>故障情况） 。</a:t>
            </a:r>
            <a:endParaRPr lang="en-US" altLang="zh-CN" dirty="0"/>
          </a:p>
        </p:txBody>
      </p:sp>
      <p:pic>
        <p:nvPicPr>
          <p:cNvPr id="6" name="图片 5">
            <a:extLst>
              <a:ext uri="{FF2B5EF4-FFF2-40B4-BE49-F238E27FC236}">
                <a16:creationId xmlns:a16="http://schemas.microsoft.com/office/drawing/2014/main" id="{F59FF38E-FB5B-FE18-8ECB-3FEF7FA745E7}"/>
              </a:ext>
            </a:extLst>
          </p:cNvPr>
          <p:cNvPicPr>
            <a:picLocks noChangeAspect="1"/>
          </p:cNvPicPr>
          <p:nvPr/>
        </p:nvPicPr>
        <p:blipFill>
          <a:blip r:embed="rId2"/>
          <a:stretch>
            <a:fillRect/>
          </a:stretch>
        </p:blipFill>
        <p:spPr>
          <a:xfrm>
            <a:off x="807720" y="5054167"/>
            <a:ext cx="10164333" cy="3064044"/>
          </a:xfrm>
          <a:prstGeom prst="rect">
            <a:avLst/>
          </a:prstGeom>
        </p:spPr>
      </p:pic>
    </p:spTree>
    <p:extLst>
      <p:ext uri="{BB962C8B-B14F-4D97-AF65-F5344CB8AC3E}">
        <p14:creationId xmlns:p14="http://schemas.microsoft.com/office/powerpoint/2010/main" val="345218919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76B40-9277-B798-7ABE-E0679D5E30DA}"/>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E0B34A50-97C7-4174-5319-94C3DAAE385B}"/>
              </a:ext>
            </a:extLst>
          </p:cNvPr>
          <p:cNvSpPr txBox="1"/>
          <p:nvPr/>
        </p:nvSpPr>
        <p:spPr>
          <a:xfrm>
            <a:off x="807720" y="329651"/>
            <a:ext cx="2906245"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3.</a:t>
            </a:r>
            <a:r>
              <a:rPr lang="zh-CN" altLang="en-US" sz="3200" b="1" kern="1200" dirty="0">
                <a:solidFill>
                  <a:srgbClr val="1C3259"/>
                </a:solidFill>
                <a:latin typeface="Arial" panose="020B0604020202020204" pitchFamily="34" charset="0"/>
                <a:ea typeface="微软雅黑" panose="020B0503020204020204" charset="-122"/>
              </a:rPr>
              <a:t>网页使用说明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75E4FD49-E1BB-D60D-6402-754864DC915B}"/>
              </a:ext>
            </a:extLst>
          </p:cNvPr>
          <p:cNvSpPr txBox="1"/>
          <p:nvPr/>
        </p:nvSpPr>
        <p:spPr>
          <a:xfrm>
            <a:off x="370805" y="1314991"/>
            <a:ext cx="3387146"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3.</a:t>
            </a:r>
            <a:r>
              <a:rPr lang="en-US" altLang="zh-CN" sz="3200" dirty="0"/>
              <a:t>11</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r>
              <a:rPr lang="zh-CN" altLang="en-US" sz="3200" dirty="0"/>
              <a:t>生产资源管理</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4" name="文本框 3">
            <a:extLst>
              <a:ext uri="{FF2B5EF4-FFF2-40B4-BE49-F238E27FC236}">
                <a16:creationId xmlns:a16="http://schemas.microsoft.com/office/drawing/2014/main" id="{6B338A6C-2B02-8C06-9425-9FDB57EFA020}"/>
              </a:ext>
            </a:extLst>
          </p:cNvPr>
          <p:cNvSpPr txBox="1"/>
          <p:nvPr/>
        </p:nvSpPr>
        <p:spPr>
          <a:xfrm>
            <a:off x="277020" y="2096930"/>
            <a:ext cx="12408846" cy="1949252"/>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进入</a:t>
            </a:r>
            <a:r>
              <a:rPr kumimoji="0" lang="zh-CN" altLang="en-US" sz="2400" b="0" i="0" u="none" strike="noStrike" cap="none" spc="0" normalizeH="0" baseline="0" dirty="0">
                <a:ln>
                  <a:noFill/>
                </a:ln>
                <a:solidFill>
                  <a:srgbClr val="000000"/>
                </a:solidFill>
                <a:effectLst/>
                <a:highlight>
                  <a:srgbClr val="FFFF00"/>
                </a:highlight>
                <a:uFillTx/>
                <a:latin typeface="+mn-lt"/>
                <a:ea typeface="+mn-ea"/>
                <a:cs typeface="+mn-cs"/>
                <a:sym typeface="Heiti SC Medium"/>
              </a:rPr>
              <a:t>业务配置</a:t>
            </a:r>
            <a:r>
              <a:rPr kumimoji="0" lang="en-US" altLang="zh-CN" sz="2400" b="0" i="0" u="none" strike="noStrike" cap="none" spc="0" normalizeH="0" baseline="0" dirty="0">
                <a:ln>
                  <a:noFill/>
                </a:ln>
                <a:solidFill>
                  <a:srgbClr val="000000"/>
                </a:solidFill>
                <a:effectLst/>
                <a:highlight>
                  <a:srgbClr val="FFFF00"/>
                </a:highlight>
                <a:uFillTx/>
                <a:latin typeface="+mn-lt"/>
                <a:ea typeface="+mn-ea"/>
                <a:cs typeface="+mn-cs"/>
                <a:sym typeface="Heiti SC Medium"/>
              </a:rPr>
              <a:t>-</a:t>
            </a:r>
            <a:r>
              <a:rPr lang="zh-CN" altLang="en-US" dirty="0">
                <a:highlight>
                  <a:srgbClr val="FFFF00"/>
                </a:highlight>
              </a:rPr>
              <a:t>生产资源</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页面，此页面可以进行生产外设的添加、修改、删除。</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添加：点击添加按钮后，输入设备信息（扫码枪通信协议为</a:t>
            </a:r>
            <a:r>
              <a:rPr lang="en-US" altLang="zh-CN" dirty="0"/>
              <a:t>RS232</a:t>
            </a:r>
            <a:r>
              <a:rPr lang="zh-CN" altLang="en-US" dirty="0"/>
              <a:t>、端口一般为</a:t>
            </a:r>
            <a:r>
              <a:rPr lang="en-US" altLang="zh-CN" dirty="0"/>
              <a:t>COM1</a:t>
            </a:r>
            <a:r>
              <a:rPr lang="zh-CN" altLang="en-US" dirty="0"/>
              <a:t>，</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波特率为</a:t>
            </a:r>
            <a:r>
              <a:rPr lang="en-US" altLang="zh-CN" dirty="0"/>
              <a:t>115200</a:t>
            </a:r>
            <a:r>
              <a:rPr lang="zh-CN" altLang="en-US" dirty="0"/>
              <a:t>，拧紧枪端口为</a:t>
            </a:r>
            <a:r>
              <a:rPr lang="en-US" altLang="zh-CN" dirty="0"/>
              <a:t>4545</a:t>
            </a:r>
            <a:r>
              <a:rPr lang="zh-CN" altLang="en-US" dirty="0"/>
              <a:t>，通信协议为</a:t>
            </a:r>
            <a:r>
              <a:rPr lang="en-US" altLang="zh-CN" dirty="0"/>
              <a:t>TCP/IP</a:t>
            </a:r>
            <a:r>
              <a:rPr lang="zh-CN" altLang="en-US" dirty="0"/>
              <a:t>）。</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编辑：先勾选对应项后点击编辑。</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删除：先勾选对应项后点击删除。</a:t>
            </a:r>
            <a:endParaRPr lang="en-US" altLang="zh-CN" dirty="0"/>
          </a:p>
        </p:txBody>
      </p:sp>
      <p:pic>
        <p:nvPicPr>
          <p:cNvPr id="5" name="图片 4">
            <a:extLst>
              <a:ext uri="{FF2B5EF4-FFF2-40B4-BE49-F238E27FC236}">
                <a16:creationId xmlns:a16="http://schemas.microsoft.com/office/drawing/2014/main" id="{CB95098C-CCDC-3EEE-A075-0F544F945C1B}"/>
              </a:ext>
            </a:extLst>
          </p:cNvPr>
          <p:cNvPicPr>
            <a:picLocks noChangeAspect="1"/>
          </p:cNvPicPr>
          <p:nvPr/>
        </p:nvPicPr>
        <p:blipFill>
          <a:blip r:embed="rId2"/>
          <a:stretch>
            <a:fillRect/>
          </a:stretch>
        </p:blipFill>
        <p:spPr>
          <a:xfrm>
            <a:off x="370805" y="5645694"/>
            <a:ext cx="7785694" cy="3052829"/>
          </a:xfrm>
          <a:prstGeom prst="rect">
            <a:avLst/>
          </a:prstGeom>
        </p:spPr>
      </p:pic>
      <p:pic>
        <p:nvPicPr>
          <p:cNvPr id="8" name="图片 7">
            <a:extLst>
              <a:ext uri="{FF2B5EF4-FFF2-40B4-BE49-F238E27FC236}">
                <a16:creationId xmlns:a16="http://schemas.microsoft.com/office/drawing/2014/main" id="{F555CC96-2F4E-79C3-6226-00C923966962}"/>
              </a:ext>
            </a:extLst>
          </p:cNvPr>
          <p:cNvPicPr>
            <a:picLocks noChangeAspect="1"/>
          </p:cNvPicPr>
          <p:nvPr/>
        </p:nvPicPr>
        <p:blipFill>
          <a:blip r:embed="rId3"/>
          <a:stretch>
            <a:fillRect/>
          </a:stretch>
        </p:blipFill>
        <p:spPr>
          <a:xfrm>
            <a:off x="8891622" y="5520895"/>
            <a:ext cx="3050285" cy="3302426"/>
          </a:xfrm>
          <a:prstGeom prst="rect">
            <a:avLst/>
          </a:prstGeom>
        </p:spPr>
      </p:pic>
    </p:spTree>
    <p:extLst>
      <p:ext uri="{BB962C8B-B14F-4D97-AF65-F5344CB8AC3E}">
        <p14:creationId xmlns:p14="http://schemas.microsoft.com/office/powerpoint/2010/main" val="398065974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1ABBA-6699-DF72-E225-C0FE92EDA7B7}"/>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46E497CA-CE7B-84CA-B853-064186C5EB8D}"/>
              </a:ext>
            </a:extLst>
          </p:cNvPr>
          <p:cNvSpPr txBox="1"/>
          <p:nvPr/>
        </p:nvSpPr>
        <p:spPr>
          <a:xfrm>
            <a:off x="807720" y="329651"/>
            <a:ext cx="3726982"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4.</a:t>
            </a:r>
            <a:r>
              <a:rPr lang="zh-CN" altLang="en-US" sz="3200" dirty="0"/>
              <a:t>生产软件使用说明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E119BBD9-501D-75C6-0417-34944304AD90}"/>
              </a:ext>
            </a:extLst>
          </p:cNvPr>
          <p:cNvSpPr txBox="1"/>
          <p:nvPr/>
        </p:nvSpPr>
        <p:spPr>
          <a:xfrm>
            <a:off x="370805" y="1314991"/>
            <a:ext cx="3191579"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sz="3200" dirty="0"/>
              <a:t>4.1 MES</a:t>
            </a:r>
            <a:r>
              <a:rPr lang="zh-CN" altLang="en-US" sz="3200" dirty="0"/>
              <a:t>参数配置</a:t>
            </a:r>
            <a:r>
              <a:rPr kumimoji="0" lang="en-US" altLang="zh-CN" sz="3200" b="0" i="0" u="none" strike="noStrike" cap="none" spc="0" normalizeH="0" baseline="0" dirty="0">
                <a:ln>
                  <a:noFill/>
                </a:ln>
                <a:solidFill>
                  <a:srgbClr val="000000"/>
                </a:solidFill>
                <a:effectLst/>
                <a:uFillTx/>
                <a:latin typeface="+mn-lt"/>
                <a:ea typeface="+mn-ea"/>
                <a:cs typeface="+mn-cs"/>
                <a:sym typeface="Heiti SC Medium"/>
              </a:rPr>
              <a:t> </a:t>
            </a:r>
          </a:p>
        </p:txBody>
      </p:sp>
      <p:pic>
        <p:nvPicPr>
          <p:cNvPr id="5" name="图片 4">
            <a:extLst>
              <a:ext uri="{FF2B5EF4-FFF2-40B4-BE49-F238E27FC236}">
                <a16:creationId xmlns:a16="http://schemas.microsoft.com/office/drawing/2014/main" id="{6781A59F-0113-1D41-D5EF-F8D3105A8A79}"/>
              </a:ext>
            </a:extLst>
          </p:cNvPr>
          <p:cNvPicPr>
            <a:picLocks noChangeAspect="1"/>
          </p:cNvPicPr>
          <p:nvPr/>
        </p:nvPicPr>
        <p:blipFill>
          <a:blip r:embed="rId2"/>
          <a:stretch>
            <a:fillRect/>
          </a:stretch>
        </p:blipFill>
        <p:spPr>
          <a:xfrm>
            <a:off x="1156677" y="3546779"/>
            <a:ext cx="9644185" cy="5330093"/>
          </a:xfrm>
          <a:prstGeom prst="rect">
            <a:avLst/>
          </a:prstGeom>
        </p:spPr>
      </p:pic>
      <p:sp>
        <p:nvSpPr>
          <p:cNvPr id="7" name="文本框 6">
            <a:extLst>
              <a:ext uri="{FF2B5EF4-FFF2-40B4-BE49-F238E27FC236}">
                <a16:creationId xmlns:a16="http://schemas.microsoft.com/office/drawing/2014/main" id="{9B9B82D9-0E2D-A512-D21B-0401126C334B}"/>
              </a:ext>
            </a:extLst>
          </p:cNvPr>
          <p:cNvSpPr txBox="1"/>
          <p:nvPr/>
        </p:nvSpPr>
        <p:spPr>
          <a:xfrm>
            <a:off x="370805" y="1910026"/>
            <a:ext cx="12113894" cy="12105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点击左侧菜单中的</a:t>
            </a:r>
            <a:r>
              <a:rPr kumimoji="0" lang="zh-CN" altLang="en-US" sz="2400" b="0" i="0" u="none" strike="noStrike" cap="none" spc="0" normalizeH="0" baseline="0" dirty="0">
                <a:ln>
                  <a:noFill/>
                </a:ln>
                <a:solidFill>
                  <a:schemeClr val="accent5"/>
                </a:solidFill>
                <a:effectLst/>
                <a:uFillTx/>
                <a:latin typeface="+mn-lt"/>
                <a:ea typeface="+mn-ea"/>
                <a:cs typeface="+mn-cs"/>
                <a:sym typeface="Heiti SC Medium"/>
              </a:rPr>
              <a:t>参数设置</a:t>
            </a:r>
            <a:r>
              <a:rPr kumimoji="0" lang="en-US" altLang="zh-CN" sz="2400" b="0" i="0" u="none" strike="noStrike" cap="none" spc="0" normalizeH="0" baseline="0" dirty="0">
                <a:ln>
                  <a:noFill/>
                </a:ln>
                <a:solidFill>
                  <a:schemeClr val="accent5"/>
                </a:solidFill>
                <a:effectLst/>
                <a:uFillTx/>
                <a:latin typeface="+mn-lt"/>
                <a:ea typeface="+mn-ea"/>
                <a:cs typeface="+mn-cs"/>
                <a:sym typeface="Heiti SC Medium"/>
              </a:rPr>
              <a:t>-MES</a:t>
            </a:r>
            <a:r>
              <a:rPr kumimoji="0" lang="zh-CN" altLang="en-US" sz="2400" b="0" i="0" u="none" strike="noStrike" cap="none" spc="0" normalizeH="0" baseline="0" dirty="0">
                <a:ln>
                  <a:noFill/>
                </a:ln>
                <a:solidFill>
                  <a:schemeClr val="accent5"/>
                </a:solidFill>
                <a:effectLst/>
                <a:uFillTx/>
                <a:latin typeface="+mn-lt"/>
                <a:ea typeface="+mn-ea"/>
                <a:cs typeface="+mn-cs"/>
                <a:sym typeface="Heiti SC Medium"/>
              </a:rPr>
              <a:t>配置</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，选择对应的接口页面，点击刷新（每次进入都</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建议刷新），根据</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IT</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以及</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PE</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提供的信息填入指定的额文本栏后，点击保存。</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dirty="0">
                <a:solidFill>
                  <a:schemeClr val="accent5"/>
                </a:solidFill>
              </a:rPr>
              <a:t>Ps</a:t>
            </a:r>
            <a:r>
              <a:rPr lang="zh-CN" altLang="en-US" dirty="0">
                <a:solidFill>
                  <a:schemeClr val="accent5"/>
                </a:solidFill>
              </a:rPr>
              <a:t>、如果没有左侧菜单，可以点击操作者左侧的三横线按钮展开</a:t>
            </a:r>
            <a:endParaRPr kumimoji="0" lang="zh-CN" altLang="en-US" sz="2400" b="0" i="0" u="none" strike="noStrike" cap="none" spc="0" normalizeH="0" baseline="0" dirty="0">
              <a:ln>
                <a:noFill/>
              </a:ln>
              <a:solidFill>
                <a:schemeClr val="accent5"/>
              </a:solidFill>
              <a:effectLst/>
              <a:uFillTx/>
              <a:latin typeface="+mn-lt"/>
              <a:ea typeface="+mn-ea"/>
              <a:cs typeface="+mn-cs"/>
              <a:sym typeface="Heiti SC Medium"/>
            </a:endParaRPr>
          </a:p>
        </p:txBody>
      </p:sp>
    </p:spTree>
    <p:extLst>
      <p:ext uri="{BB962C8B-B14F-4D97-AF65-F5344CB8AC3E}">
        <p14:creationId xmlns:p14="http://schemas.microsoft.com/office/powerpoint/2010/main" val="1919399621"/>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C99F4-2A7E-BD25-5DCE-7358683007CF}"/>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DB8D0722-DDE8-AACC-3599-5FDB5175D900}"/>
              </a:ext>
            </a:extLst>
          </p:cNvPr>
          <p:cNvSpPr txBox="1"/>
          <p:nvPr/>
        </p:nvSpPr>
        <p:spPr>
          <a:xfrm>
            <a:off x="807720" y="329651"/>
            <a:ext cx="3726982"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4.</a:t>
            </a:r>
            <a:r>
              <a:rPr lang="zh-CN" altLang="en-US" sz="3200" dirty="0"/>
              <a:t>生产软件使用说明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461C765E-F5D7-60E2-7A2C-0DF4356EFC3F}"/>
              </a:ext>
            </a:extLst>
          </p:cNvPr>
          <p:cNvSpPr txBox="1"/>
          <p:nvPr/>
        </p:nvSpPr>
        <p:spPr>
          <a:xfrm>
            <a:off x="370805" y="1314991"/>
            <a:ext cx="2358018"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sz="3200" dirty="0"/>
              <a:t>4.2 </a:t>
            </a:r>
            <a:r>
              <a:rPr lang="zh-CN" altLang="en-US" sz="3200" dirty="0"/>
              <a:t>调试工具</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7" name="文本框 6">
            <a:extLst>
              <a:ext uri="{FF2B5EF4-FFF2-40B4-BE49-F238E27FC236}">
                <a16:creationId xmlns:a16="http://schemas.microsoft.com/office/drawing/2014/main" id="{D43255F0-221D-B0DE-95C7-5413B4024B57}"/>
              </a:ext>
            </a:extLst>
          </p:cNvPr>
          <p:cNvSpPr txBox="1"/>
          <p:nvPr/>
        </p:nvSpPr>
        <p:spPr>
          <a:xfrm>
            <a:off x="370805" y="1910026"/>
            <a:ext cx="9712595" cy="12105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点击左侧菜单中的</a:t>
            </a:r>
            <a:r>
              <a:rPr kumimoji="0" lang="zh-CN" altLang="en-US" sz="2400" b="0" i="0" u="none" strike="noStrike" cap="none" spc="0" normalizeH="0" baseline="0" dirty="0">
                <a:ln>
                  <a:noFill/>
                </a:ln>
                <a:solidFill>
                  <a:schemeClr val="accent5"/>
                </a:solidFill>
                <a:effectLst/>
                <a:uFillTx/>
                <a:latin typeface="+mn-lt"/>
                <a:ea typeface="+mn-ea"/>
                <a:cs typeface="+mn-cs"/>
                <a:sym typeface="Heiti SC Medium"/>
              </a:rPr>
              <a:t>参数设置</a:t>
            </a:r>
            <a:r>
              <a:rPr kumimoji="0" lang="en-US" altLang="zh-CN" sz="2400" b="0" i="0" u="none" strike="noStrike" cap="none" spc="0" normalizeH="0" baseline="0" dirty="0">
                <a:ln>
                  <a:noFill/>
                </a:ln>
                <a:solidFill>
                  <a:schemeClr val="accent5"/>
                </a:solidFill>
                <a:effectLst/>
                <a:uFillTx/>
                <a:latin typeface="+mn-lt"/>
                <a:ea typeface="+mn-ea"/>
                <a:cs typeface="+mn-cs"/>
                <a:sym typeface="Heiti SC Medium"/>
              </a:rPr>
              <a:t>-</a:t>
            </a:r>
            <a:r>
              <a:rPr kumimoji="0" lang="zh-CN" altLang="en-US" sz="2400" b="0" i="0" u="none" strike="noStrike" cap="none" spc="0" normalizeH="0" baseline="0" dirty="0">
                <a:ln>
                  <a:noFill/>
                </a:ln>
                <a:solidFill>
                  <a:schemeClr val="accent5"/>
                </a:solidFill>
                <a:effectLst/>
                <a:uFillTx/>
                <a:latin typeface="+mn-lt"/>
                <a:ea typeface="+mn-ea"/>
                <a:cs typeface="+mn-cs"/>
                <a:sym typeface="Heiti SC Medium"/>
              </a:rPr>
              <a:t>调试工具</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，选择需要调试的外设页面。</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zh-CN" altLang="en-US" dirty="0"/>
              <a:t>拧紧枪页面可以手动选择拧紧枪并下发需要的程序号与使能。</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chemeClr val="accent5"/>
                </a:solidFill>
                <a:effectLst/>
                <a:uFillTx/>
                <a:latin typeface="+mn-lt"/>
                <a:ea typeface="+mn-ea"/>
                <a:cs typeface="+mn-cs"/>
                <a:sym typeface="Heiti SC Medium"/>
              </a:rPr>
              <a:t>	</a:t>
            </a:r>
            <a:r>
              <a:rPr kumimoji="0" lang="zh-CN" altLang="en-US" sz="2400" b="0" i="0" u="none" strike="noStrike" cap="none" spc="0" normalizeH="0" baseline="0" dirty="0">
                <a:ln>
                  <a:noFill/>
                </a:ln>
                <a:solidFill>
                  <a:schemeClr val="tx1"/>
                </a:solidFill>
                <a:effectLst/>
                <a:uFillTx/>
                <a:latin typeface="+mn-lt"/>
                <a:ea typeface="+mn-ea"/>
                <a:cs typeface="+mn-cs"/>
                <a:sym typeface="Heiti SC Medium"/>
              </a:rPr>
              <a:t>扫码枪可以查看扫码内容与条码长度。</a:t>
            </a:r>
          </a:p>
        </p:txBody>
      </p:sp>
      <p:pic>
        <p:nvPicPr>
          <p:cNvPr id="4" name="图片 3">
            <a:extLst>
              <a:ext uri="{FF2B5EF4-FFF2-40B4-BE49-F238E27FC236}">
                <a16:creationId xmlns:a16="http://schemas.microsoft.com/office/drawing/2014/main" id="{3821EC25-8FA2-1695-B24C-7EF076FBE7F4}"/>
              </a:ext>
            </a:extLst>
          </p:cNvPr>
          <p:cNvPicPr>
            <a:picLocks noChangeAspect="1"/>
          </p:cNvPicPr>
          <p:nvPr/>
        </p:nvPicPr>
        <p:blipFill>
          <a:blip r:embed="rId2"/>
          <a:stretch>
            <a:fillRect/>
          </a:stretch>
        </p:blipFill>
        <p:spPr>
          <a:xfrm>
            <a:off x="1035387" y="4249073"/>
            <a:ext cx="5174668" cy="3808218"/>
          </a:xfrm>
          <a:prstGeom prst="rect">
            <a:avLst/>
          </a:prstGeom>
        </p:spPr>
      </p:pic>
      <p:pic>
        <p:nvPicPr>
          <p:cNvPr id="8" name="图片 7">
            <a:extLst>
              <a:ext uri="{FF2B5EF4-FFF2-40B4-BE49-F238E27FC236}">
                <a16:creationId xmlns:a16="http://schemas.microsoft.com/office/drawing/2014/main" id="{D59D37FA-666B-9216-BBFC-55E69883A5FC}"/>
              </a:ext>
            </a:extLst>
          </p:cNvPr>
          <p:cNvPicPr>
            <a:picLocks noChangeAspect="1"/>
          </p:cNvPicPr>
          <p:nvPr/>
        </p:nvPicPr>
        <p:blipFill>
          <a:blip r:embed="rId3"/>
          <a:stretch>
            <a:fillRect/>
          </a:stretch>
        </p:blipFill>
        <p:spPr>
          <a:xfrm>
            <a:off x="6502400" y="4249073"/>
            <a:ext cx="5258535" cy="3886743"/>
          </a:xfrm>
          <a:prstGeom prst="rect">
            <a:avLst/>
          </a:prstGeom>
        </p:spPr>
      </p:pic>
    </p:spTree>
    <p:extLst>
      <p:ext uri="{BB962C8B-B14F-4D97-AF65-F5344CB8AC3E}">
        <p14:creationId xmlns:p14="http://schemas.microsoft.com/office/powerpoint/2010/main" val="2360482363"/>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6EB48-8320-402E-FDC5-6076252914BF}"/>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ABE518F3-1D34-1840-EDAC-4B29DA220DAC}"/>
              </a:ext>
            </a:extLst>
          </p:cNvPr>
          <p:cNvSpPr txBox="1"/>
          <p:nvPr/>
        </p:nvSpPr>
        <p:spPr>
          <a:xfrm>
            <a:off x="807720" y="329651"/>
            <a:ext cx="3726982"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4.</a:t>
            </a:r>
            <a:r>
              <a:rPr lang="zh-CN" altLang="en-US" sz="3200" dirty="0"/>
              <a:t>生产软件使用说明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9D9B5353-D73C-72FA-0F4F-8A7AB0823793}"/>
              </a:ext>
            </a:extLst>
          </p:cNvPr>
          <p:cNvSpPr txBox="1"/>
          <p:nvPr/>
        </p:nvSpPr>
        <p:spPr>
          <a:xfrm>
            <a:off x="370805" y="1314991"/>
            <a:ext cx="2358018"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sz="3200" dirty="0"/>
              <a:t>4.3 </a:t>
            </a:r>
            <a:r>
              <a:rPr lang="zh-CN" altLang="en-US" sz="3200" dirty="0"/>
              <a:t>数据重传</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7" name="文本框 6">
            <a:extLst>
              <a:ext uri="{FF2B5EF4-FFF2-40B4-BE49-F238E27FC236}">
                <a16:creationId xmlns:a16="http://schemas.microsoft.com/office/drawing/2014/main" id="{7F3F610B-0557-7A22-AA85-923872B2284B}"/>
              </a:ext>
            </a:extLst>
          </p:cNvPr>
          <p:cNvSpPr txBox="1"/>
          <p:nvPr/>
        </p:nvSpPr>
        <p:spPr>
          <a:xfrm>
            <a:off x="370805" y="1910026"/>
            <a:ext cx="12553116" cy="157992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点击主页面的数据重传，在弹窗中修改工位（上下层工位需要修改，单工位无需修改）</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zh-CN" altLang="en-US" dirty="0"/>
              <a:t>，</a:t>
            </a:r>
            <a:r>
              <a:rPr lang="en-US" altLang="zh-CN" dirty="0"/>
              <a:t>Pack</a:t>
            </a:r>
            <a:r>
              <a:rPr lang="zh-CN" altLang="en-US" dirty="0"/>
              <a:t>码可以选择手输或者通过扫码枪扫描，启用过站如果打开，则会根据</a:t>
            </a:r>
            <a:r>
              <a:rPr lang="en-US" altLang="zh-CN" dirty="0"/>
              <a:t>MES</a:t>
            </a:r>
            <a:r>
              <a:rPr lang="zh-CN" altLang="en-US" dirty="0"/>
              <a:t>配置中的</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zh-CN" altLang="en-US" dirty="0"/>
              <a:t>过站模式进行进出站操作，否则一律不出站。</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en-US" altLang="zh-CN" dirty="0">
                <a:solidFill>
                  <a:srgbClr val="FF0000"/>
                </a:solidFill>
              </a:rPr>
              <a:t>Ps</a:t>
            </a:r>
            <a:r>
              <a:rPr lang="zh-CN" altLang="en-US" dirty="0">
                <a:solidFill>
                  <a:srgbClr val="FF0000"/>
                </a:solidFill>
              </a:rPr>
              <a:t>、此功能需要结束当前进行中的流程（为了防止流程中的扫码与重传页面的扫码冲突）</a:t>
            </a:r>
            <a:endParaRPr lang="en-US" altLang="zh-CN" dirty="0">
              <a:solidFill>
                <a:srgbClr val="FF0000"/>
              </a:solidFill>
            </a:endParaRPr>
          </a:p>
        </p:txBody>
      </p:sp>
      <p:pic>
        <p:nvPicPr>
          <p:cNvPr id="5" name="图片 4">
            <a:extLst>
              <a:ext uri="{FF2B5EF4-FFF2-40B4-BE49-F238E27FC236}">
                <a16:creationId xmlns:a16="http://schemas.microsoft.com/office/drawing/2014/main" id="{1CAC8AA8-6F31-5902-1DED-A19BD96E6F1C}"/>
              </a:ext>
            </a:extLst>
          </p:cNvPr>
          <p:cNvPicPr>
            <a:picLocks noChangeAspect="1"/>
          </p:cNvPicPr>
          <p:nvPr/>
        </p:nvPicPr>
        <p:blipFill>
          <a:blip r:embed="rId2"/>
          <a:stretch>
            <a:fillRect/>
          </a:stretch>
        </p:blipFill>
        <p:spPr>
          <a:xfrm>
            <a:off x="2109875" y="4142225"/>
            <a:ext cx="8034494" cy="4528347"/>
          </a:xfrm>
          <a:prstGeom prst="rect">
            <a:avLst/>
          </a:prstGeom>
        </p:spPr>
      </p:pic>
    </p:spTree>
    <p:extLst>
      <p:ext uri="{BB962C8B-B14F-4D97-AF65-F5344CB8AC3E}">
        <p14:creationId xmlns:p14="http://schemas.microsoft.com/office/powerpoint/2010/main" val="3755082218"/>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1DC29-06A8-C8C6-F02A-DD0BAA4FC0E9}"/>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E677C690-8FEC-B63A-C4EC-A9F0471DDF42}"/>
              </a:ext>
            </a:extLst>
          </p:cNvPr>
          <p:cNvSpPr txBox="1"/>
          <p:nvPr/>
        </p:nvSpPr>
        <p:spPr>
          <a:xfrm>
            <a:off x="807720" y="329651"/>
            <a:ext cx="3726982"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4.</a:t>
            </a:r>
            <a:r>
              <a:rPr lang="zh-CN" altLang="en-US" sz="3200" dirty="0"/>
              <a:t>生产软件使用说明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3B42D953-5164-B112-B6C4-75327187A74C}"/>
              </a:ext>
            </a:extLst>
          </p:cNvPr>
          <p:cNvSpPr txBox="1"/>
          <p:nvPr/>
        </p:nvSpPr>
        <p:spPr>
          <a:xfrm>
            <a:off x="370805" y="1314991"/>
            <a:ext cx="1537280"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sz="3200" dirty="0"/>
              <a:t>4.4 </a:t>
            </a:r>
            <a:r>
              <a:rPr lang="zh-CN" altLang="en-US" sz="3200" dirty="0"/>
              <a:t>跳步</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7" name="文本框 6">
            <a:extLst>
              <a:ext uri="{FF2B5EF4-FFF2-40B4-BE49-F238E27FC236}">
                <a16:creationId xmlns:a16="http://schemas.microsoft.com/office/drawing/2014/main" id="{10CE721E-3B55-4CAD-4BB7-CD1D3C350010}"/>
              </a:ext>
            </a:extLst>
          </p:cNvPr>
          <p:cNvSpPr txBox="1"/>
          <p:nvPr/>
        </p:nvSpPr>
        <p:spPr>
          <a:xfrm>
            <a:off x="370805" y="2295588"/>
            <a:ext cx="12388007" cy="12105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在任务进行过程中，发现此任务应某些原因导致无需执行，此时可以通过跳步按钮实现</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zh-CN" altLang="en-US" dirty="0"/>
              <a:t>跳过此任务。</a:t>
            </a:r>
            <a:endParaRPr lang="en-US" altLang="zh-CN" dirty="0"/>
          </a:p>
          <a:p>
            <a:pPr marL="0" marR="0" indent="0" algn="l" defTabSz="584200" rtl="0" fontAlgn="auto" latinLnBrk="0" hangingPunct="0">
              <a:lnSpc>
                <a:spcPct val="100000"/>
              </a:lnSpc>
              <a:spcBef>
                <a:spcPts val="0"/>
              </a:spcBef>
              <a:spcAft>
                <a:spcPts val="0"/>
              </a:spcAft>
              <a:buClrTx/>
              <a:buSzTx/>
              <a:buFontTx/>
              <a:buNone/>
            </a:pPr>
            <a:r>
              <a:rPr lang="en-US" altLang="zh-CN" dirty="0"/>
              <a:t>	</a:t>
            </a:r>
            <a:r>
              <a:rPr lang="en-US" altLang="zh-CN" dirty="0">
                <a:solidFill>
                  <a:srgbClr val="FF0000"/>
                </a:solidFill>
              </a:rPr>
              <a:t>Ps</a:t>
            </a:r>
            <a:r>
              <a:rPr lang="zh-CN" altLang="en-US" dirty="0">
                <a:solidFill>
                  <a:srgbClr val="FF0000"/>
                </a:solidFill>
              </a:rPr>
              <a:t>、此功能需要权限管控。且一定是在流程过程中才可使用</a:t>
            </a:r>
            <a:endParaRPr lang="en-US" altLang="zh-CN" dirty="0">
              <a:solidFill>
                <a:srgbClr val="FF0000"/>
              </a:solidFill>
            </a:endParaRPr>
          </a:p>
        </p:txBody>
      </p:sp>
      <p:pic>
        <p:nvPicPr>
          <p:cNvPr id="3" name="图片 2">
            <a:extLst>
              <a:ext uri="{FF2B5EF4-FFF2-40B4-BE49-F238E27FC236}">
                <a16:creationId xmlns:a16="http://schemas.microsoft.com/office/drawing/2014/main" id="{11321475-59CB-52B9-F9FB-C0F2238EF083}"/>
              </a:ext>
            </a:extLst>
          </p:cNvPr>
          <p:cNvPicPr>
            <a:picLocks noChangeAspect="1"/>
          </p:cNvPicPr>
          <p:nvPr/>
        </p:nvPicPr>
        <p:blipFill>
          <a:blip r:embed="rId2"/>
          <a:stretch>
            <a:fillRect/>
          </a:stretch>
        </p:blipFill>
        <p:spPr>
          <a:xfrm>
            <a:off x="2351940" y="3745415"/>
            <a:ext cx="7612676" cy="5678534"/>
          </a:xfrm>
          <a:prstGeom prst="rect">
            <a:avLst/>
          </a:prstGeom>
        </p:spPr>
      </p:pic>
    </p:spTree>
    <p:extLst>
      <p:ext uri="{BB962C8B-B14F-4D97-AF65-F5344CB8AC3E}">
        <p14:creationId xmlns:p14="http://schemas.microsoft.com/office/powerpoint/2010/main" val="2934177783"/>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CE9AA-C8DA-6B8D-7EE8-DCC41A50458C}"/>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8581EE8E-FB1B-94D8-02E2-B199C10C6B05}"/>
              </a:ext>
            </a:extLst>
          </p:cNvPr>
          <p:cNvSpPr txBox="1"/>
          <p:nvPr/>
        </p:nvSpPr>
        <p:spPr>
          <a:xfrm>
            <a:off x="807720" y="329651"/>
            <a:ext cx="3726982"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4.</a:t>
            </a:r>
            <a:r>
              <a:rPr lang="zh-CN" altLang="en-US" sz="3200" dirty="0"/>
              <a:t>生产软件使用说明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D5A1525E-5592-BC30-D66A-6B2ED0D2BEED}"/>
              </a:ext>
            </a:extLst>
          </p:cNvPr>
          <p:cNvSpPr txBox="1"/>
          <p:nvPr/>
        </p:nvSpPr>
        <p:spPr>
          <a:xfrm>
            <a:off x="370805" y="1314991"/>
            <a:ext cx="1947649"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sz="3200" dirty="0"/>
              <a:t>4.5 </a:t>
            </a:r>
            <a:r>
              <a:rPr lang="zh-CN" altLang="en-US" sz="3200" dirty="0"/>
              <a:t>初始化</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7" name="文本框 6">
            <a:extLst>
              <a:ext uri="{FF2B5EF4-FFF2-40B4-BE49-F238E27FC236}">
                <a16:creationId xmlns:a16="http://schemas.microsoft.com/office/drawing/2014/main" id="{4F650CFD-9732-BDAF-2B97-C82A1AD8CB7C}"/>
              </a:ext>
            </a:extLst>
          </p:cNvPr>
          <p:cNvSpPr txBox="1"/>
          <p:nvPr/>
        </p:nvSpPr>
        <p:spPr>
          <a:xfrm>
            <a:off x="370805" y="2295588"/>
            <a:ext cx="12080230" cy="84125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任务进行中，遇到修改配方或者条码已过站的情况下，可以使用初始化按钮注销当前</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流程使其可以重新扫描</a:t>
            </a: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Pack</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条码。</a:t>
            </a:r>
            <a:endParaRPr lang="en-US" altLang="zh-CN" dirty="0">
              <a:solidFill>
                <a:srgbClr val="FF0000"/>
              </a:solidFill>
            </a:endParaRPr>
          </a:p>
        </p:txBody>
      </p:sp>
      <p:pic>
        <p:nvPicPr>
          <p:cNvPr id="6" name="图片 5">
            <a:extLst>
              <a:ext uri="{FF2B5EF4-FFF2-40B4-BE49-F238E27FC236}">
                <a16:creationId xmlns:a16="http://schemas.microsoft.com/office/drawing/2014/main" id="{C3685076-FE7F-15FE-913B-3729E02A1641}"/>
              </a:ext>
            </a:extLst>
          </p:cNvPr>
          <p:cNvPicPr>
            <a:picLocks noChangeAspect="1"/>
          </p:cNvPicPr>
          <p:nvPr/>
        </p:nvPicPr>
        <p:blipFill>
          <a:blip r:embed="rId2"/>
          <a:stretch>
            <a:fillRect/>
          </a:stretch>
        </p:blipFill>
        <p:spPr>
          <a:xfrm>
            <a:off x="2642443" y="3393403"/>
            <a:ext cx="7719913" cy="5758525"/>
          </a:xfrm>
          <a:prstGeom prst="rect">
            <a:avLst/>
          </a:prstGeom>
        </p:spPr>
      </p:pic>
    </p:spTree>
    <p:extLst>
      <p:ext uri="{BB962C8B-B14F-4D97-AF65-F5344CB8AC3E}">
        <p14:creationId xmlns:p14="http://schemas.microsoft.com/office/powerpoint/2010/main" val="1691769518"/>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DE7B1-DE15-E996-78B7-608382D2D72B}"/>
            </a:ext>
          </a:extLst>
        </p:cNvPr>
        <p:cNvGrpSpPr/>
        <p:nvPr/>
      </p:nvGrpSpPr>
      <p:grpSpPr>
        <a:xfrm>
          <a:off x="0" y="0"/>
          <a:ext cx="0" cy="0"/>
          <a:chOff x="0" y="0"/>
          <a:chExt cx="0" cy="0"/>
        </a:xfrm>
      </p:grpSpPr>
      <p:sp>
        <p:nvSpPr>
          <p:cNvPr id="92" name="此处为PPT主题位置">
            <a:extLst>
              <a:ext uri="{FF2B5EF4-FFF2-40B4-BE49-F238E27FC236}">
                <a16:creationId xmlns:a16="http://schemas.microsoft.com/office/drawing/2014/main" id="{D76EA87D-F9A0-6971-C84D-7037D1EAD3B4}"/>
              </a:ext>
            </a:extLst>
          </p:cNvPr>
          <p:cNvSpPr txBox="1"/>
          <p:nvPr/>
        </p:nvSpPr>
        <p:spPr>
          <a:xfrm>
            <a:off x="807720" y="329651"/>
            <a:ext cx="3726982" cy="595035"/>
          </a:xfrm>
          <a:prstGeom prst="rect">
            <a:avLst/>
          </a:prstGeom>
          <a:ln w="12700">
            <a:miter lim="400000"/>
          </a:ln>
        </p:spPr>
        <p:txBody>
          <a:bodyPr wrap="none" lIns="50800" tIns="50800" rIns="50800" bIns="50800" anchor="ctr">
            <a:spAutoFit/>
          </a:bodyPr>
          <a:lstStyle>
            <a:lvl1pPr algn="l">
              <a:defRPr>
                <a:solidFill>
                  <a:srgbClr val="041065"/>
                </a:solidFill>
              </a:defRPr>
            </a:lvl1pPr>
          </a:lstStyle>
          <a:p>
            <a:r>
              <a:rPr lang="en-US" altLang="zh-CN" sz="3200" b="1" kern="1200" dirty="0">
                <a:solidFill>
                  <a:srgbClr val="1C3259"/>
                </a:solidFill>
                <a:latin typeface="Arial" panose="020B0604020202020204" pitchFamily="34" charset="0"/>
                <a:ea typeface="微软雅黑" panose="020B0503020204020204" charset="-122"/>
              </a:rPr>
              <a:t>4.</a:t>
            </a:r>
            <a:r>
              <a:rPr lang="zh-CN" altLang="en-US" sz="3200" dirty="0"/>
              <a:t>生产软件使用说明</a:t>
            </a:r>
            <a:endParaRPr lang="zh-CN" altLang="en-US" sz="3200" b="1" dirty="0">
              <a:solidFill>
                <a:schemeClr val="tx1"/>
              </a:solidFill>
            </a:endParaRPr>
          </a:p>
        </p:txBody>
      </p:sp>
      <p:sp>
        <p:nvSpPr>
          <p:cNvPr id="2" name="文本框 1">
            <a:extLst>
              <a:ext uri="{FF2B5EF4-FFF2-40B4-BE49-F238E27FC236}">
                <a16:creationId xmlns:a16="http://schemas.microsoft.com/office/drawing/2014/main" id="{38524723-E418-809B-77F5-BB18E69FD91A}"/>
              </a:ext>
            </a:extLst>
          </p:cNvPr>
          <p:cNvSpPr txBox="1"/>
          <p:nvPr/>
        </p:nvSpPr>
        <p:spPr>
          <a:xfrm>
            <a:off x="370805" y="1314991"/>
            <a:ext cx="1537280" cy="5950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pPr>
            <a:r>
              <a:rPr lang="en-US" altLang="zh-CN" sz="3200" dirty="0"/>
              <a:t>4.6 </a:t>
            </a:r>
            <a:r>
              <a:rPr lang="zh-CN" altLang="en-US" sz="3200" dirty="0"/>
              <a:t>返工</a:t>
            </a:r>
            <a:endParaRPr kumimoji="0" lang="en-US" altLang="zh-CN" sz="3200" b="0" i="0" u="none" strike="noStrike" cap="none" spc="0" normalizeH="0" baseline="0" dirty="0">
              <a:ln>
                <a:noFill/>
              </a:ln>
              <a:solidFill>
                <a:srgbClr val="000000"/>
              </a:solidFill>
              <a:effectLst/>
              <a:uFillTx/>
              <a:latin typeface="+mn-lt"/>
              <a:ea typeface="+mn-ea"/>
              <a:cs typeface="+mn-cs"/>
              <a:sym typeface="Heiti SC Medium"/>
            </a:endParaRPr>
          </a:p>
        </p:txBody>
      </p:sp>
      <p:sp>
        <p:nvSpPr>
          <p:cNvPr id="7" name="文本框 6">
            <a:extLst>
              <a:ext uri="{FF2B5EF4-FFF2-40B4-BE49-F238E27FC236}">
                <a16:creationId xmlns:a16="http://schemas.microsoft.com/office/drawing/2014/main" id="{48041810-E31C-62E3-C9B1-B1E6984BE08D}"/>
              </a:ext>
            </a:extLst>
          </p:cNvPr>
          <p:cNvSpPr txBox="1"/>
          <p:nvPr/>
        </p:nvSpPr>
        <p:spPr>
          <a:xfrm>
            <a:off x="370805" y="2295588"/>
            <a:ext cx="12388007" cy="121058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584200" rtl="0" fontAlgn="auto" latinLnBrk="0" hangingPunct="0">
              <a:lnSpc>
                <a:spcPct val="100000"/>
              </a:lnSpc>
              <a:spcBef>
                <a:spcPts val="0"/>
              </a:spcBef>
              <a:spcAft>
                <a:spcPts val="0"/>
              </a:spcAft>
              <a:buClrTx/>
              <a:buSzTx/>
              <a:buFontTx/>
              <a:buNone/>
            </a:pPr>
            <a:r>
              <a:rPr kumimoji="0" lang="en-US" altLang="zh-CN" sz="2400" b="0" i="0" u="none" strike="noStrike" cap="none" spc="0" normalizeH="0" baseline="0" dirty="0">
                <a:ln>
                  <a:noFill/>
                </a:ln>
                <a:solidFill>
                  <a:srgbClr val="000000"/>
                </a:solidFill>
                <a:effectLst/>
                <a:uFillTx/>
                <a:latin typeface="+mn-lt"/>
                <a:ea typeface="+mn-ea"/>
                <a:cs typeface="+mn-cs"/>
                <a:sym typeface="Heiti SC Medium"/>
              </a:rPr>
              <a:t>	</a:t>
            </a:r>
            <a:r>
              <a:rPr kumimoji="0" lang="zh-CN" altLang="en-US" sz="2400" b="0" i="0" u="none" strike="noStrike" cap="none" spc="0" normalizeH="0" baseline="0" dirty="0">
                <a:ln>
                  <a:noFill/>
                </a:ln>
                <a:solidFill>
                  <a:srgbClr val="000000"/>
                </a:solidFill>
                <a:effectLst/>
                <a:uFillTx/>
                <a:latin typeface="+mn-lt"/>
                <a:ea typeface="+mn-ea"/>
                <a:cs typeface="+mn-cs"/>
                <a:sym typeface="Heiti SC Medium"/>
              </a:rPr>
              <a:t>如遇到需要返工的时候，需要在流程加载出来以后，点击返工设置，在弹窗中勾选需要</a:t>
            </a:r>
            <a:endParaRPr kumimoji="0" lang="en-US" altLang="zh-CN" sz="2400" b="0" i="0" u="none" strike="noStrike" cap="none" spc="0" normalizeH="0" baseline="0" dirty="0">
              <a:ln>
                <a:noFill/>
              </a:ln>
              <a:solidFill>
                <a:srgbClr val="000000"/>
              </a:solidFill>
              <a:effectLst/>
              <a:uFillTx/>
              <a:latin typeface="+mn-lt"/>
              <a:ea typeface="+mn-ea"/>
              <a:cs typeface="+mn-cs"/>
              <a:sym typeface="Heiti SC Medium"/>
            </a:endParaRPr>
          </a:p>
          <a:p>
            <a:pPr marL="0" marR="0" indent="0" algn="l" defTabSz="584200" rtl="0" fontAlgn="auto" latinLnBrk="0" hangingPunct="0">
              <a:lnSpc>
                <a:spcPct val="100000"/>
              </a:lnSpc>
              <a:spcBef>
                <a:spcPts val="0"/>
              </a:spcBef>
              <a:spcAft>
                <a:spcPts val="0"/>
              </a:spcAft>
              <a:buClrTx/>
              <a:buSzTx/>
              <a:buFontTx/>
              <a:buNone/>
            </a:pPr>
            <a:r>
              <a:rPr lang="zh-CN" altLang="en-US" dirty="0"/>
              <a:t>返工的任务。如果是拧紧任务则需要选择重拧数量（默认</a:t>
            </a:r>
            <a:r>
              <a:rPr lang="en-US" altLang="zh-CN" dirty="0"/>
              <a:t>1</a:t>
            </a:r>
            <a:r>
              <a:rPr lang="zh-CN" altLang="en-US" dirty="0"/>
              <a:t>颗）</a:t>
            </a:r>
            <a:r>
              <a:rPr lang="zh-CN" altLang="en-US" dirty="0">
                <a:solidFill>
                  <a:schemeClr val="tx1"/>
                </a:solidFill>
              </a:rPr>
              <a:t>。每个任务后面的设置未完</a:t>
            </a:r>
            <a:endParaRPr lang="en-US" altLang="zh-CN" dirty="0">
              <a:solidFill>
                <a:schemeClr val="tx1"/>
              </a:solidFill>
            </a:endParaRPr>
          </a:p>
          <a:p>
            <a:pPr marL="0" marR="0" indent="0" algn="l" defTabSz="584200" rtl="0" fontAlgn="auto" latinLnBrk="0" hangingPunct="0">
              <a:lnSpc>
                <a:spcPct val="100000"/>
              </a:lnSpc>
              <a:spcBef>
                <a:spcPts val="0"/>
              </a:spcBef>
              <a:spcAft>
                <a:spcPts val="0"/>
              </a:spcAft>
              <a:buClrTx/>
              <a:buSzTx/>
              <a:buFontTx/>
              <a:buNone/>
            </a:pPr>
            <a:r>
              <a:rPr lang="zh-CN" altLang="en-US" dirty="0">
                <a:solidFill>
                  <a:schemeClr val="tx1"/>
                </a:solidFill>
              </a:rPr>
              <a:t>成可以将跳步的任务强制设置为未完工（</a:t>
            </a:r>
            <a:r>
              <a:rPr lang="zh-CN" altLang="en-US" dirty="0">
                <a:solidFill>
                  <a:srgbClr val="FF0000"/>
                </a:solidFill>
              </a:rPr>
              <a:t>只会用在跳错步的情况下</a:t>
            </a:r>
            <a:r>
              <a:rPr lang="zh-CN" altLang="en-US" dirty="0">
                <a:solidFill>
                  <a:schemeClr val="tx1"/>
                </a:solidFill>
              </a:rPr>
              <a:t>）。</a:t>
            </a:r>
            <a:endParaRPr lang="en-US" altLang="zh-CN" dirty="0"/>
          </a:p>
        </p:txBody>
      </p:sp>
      <p:pic>
        <p:nvPicPr>
          <p:cNvPr id="4" name="图片 3">
            <a:extLst>
              <a:ext uri="{FF2B5EF4-FFF2-40B4-BE49-F238E27FC236}">
                <a16:creationId xmlns:a16="http://schemas.microsoft.com/office/drawing/2014/main" id="{459B353B-921B-DC4E-A972-9175A6875CAD}"/>
              </a:ext>
            </a:extLst>
          </p:cNvPr>
          <p:cNvPicPr>
            <a:picLocks noChangeAspect="1"/>
          </p:cNvPicPr>
          <p:nvPr/>
        </p:nvPicPr>
        <p:blipFill>
          <a:blip r:embed="rId2"/>
          <a:stretch>
            <a:fillRect/>
          </a:stretch>
        </p:blipFill>
        <p:spPr>
          <a:xfrm>
            <a:off x="2374227" y="4260559"/>
            <a:ext cx="6871374" cy="4712396"/>
          </a:xfrm>
          <a:prstGeom prst="rect">
            <a:avLst/>
          </a:prstGeom>
        </p:spPr>
      </p:pic>
    </p:spTree>
    <p:extLst>
      <p:ext uri="{BB962C8B-B14F-4D97-AF65-F5344CB8AC3E}">
        <p14:creationId xmlns:p14="http://schemas.microsoft.com/office/powerpoint/2010/main" val="977233969"/>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HANKS"/>
          <p:cNvSpPr txBox="1"/>
          <p:nvPr/>
        </p:nvSpPr>
        <p:spPr>
          <a:xfrm>
            <a:off x="742966" y="2932287"/>
            <a:ext cx="3277235" cy="1024890"/>
          </a:xfrm>
          <a:prstGeom prst="rect">
            <a:avLst/>
          </a:prstGeom>
          <a:ln w="12700">
            <a:miter lim="400000"/>
          </a:ln>
        </p:spPr>
        <p:txBody>
          <a:bodyPr wrap="none" lIns="50800" tIns="50800" rIns="50800" bIns="50800" anchor="ctr">
            <a:spAutoFit/>
          </a:bodyPr>
          <a:lstStyle>
            <a:lvl1pPr algn="l">
              <a:defRPr sz="4000" b="1">
                <a:solidFill>
                  <a:srgbClr val="FFFFFF"/>
                </a:solidFill>
                <a:latin typeface="Arial" panose="020B0604020202020204"/>
                <a:ea typeface="Arial" panose="020B0604020202020204"/>
                <a:cs typeface="Arial" panose="020B0604020202020204"/>
                <a:sym typeface="Arial" panose="020B0604020202020204"/>
              </a:defRPr>
            </a:lvl1pPr>
          </a:lstStyle>
          <a:p>
            <a:r>
              <a:rPr sz="6000"/>
              <a:t>THANKS</a:t>
            </a:r>
          </a:p>
        </p:txBody>
      </p:sp>
      <p:sp>
        <p:nvSpPr>
          <p:cNvPr id="116" name="常州孟腾智能装备有限公司"/>
          <p:cNvSpPr txBox="1"/>
          <p:nvPr/>
        </p:nvSpPr>
        <p:spPr>
          <a:xfrm>
            <a:off x="742966" y="7013447"/>
            <a:ext cx="2552701" cy="298706"/>
          </a:xfrm>
          <a:prstGeom prst="rect">
            <a:avLst/>
          </a:prstGeom>
          <a:ln w="12700">
            <a:miter lim="400000"/>
          </a:ln>
        </p:spPr>
        <p:txBody>
          <a:bodyPr wrap="none" lIns="50800" tIns="50800" rIns="50800" bIns="50800" anchor="ctr">
            <a:spAutoFit/>
          </a:bodyPr>
          <a:lstStyle>
            <a:lvl1pPr algn="l">
              <a:defRPr sz="1600">
                <a:solidFill>
                  <a:srgbClr val="FFFFFF"/>
                </a:solidFill>
              </a:defRPr>
            </a:lvl1pPr>
          </a:lstStyle>
          <a:p>
            <a:r>
              <a:t>常州孟腾智能装备有限公司</a:t>
            </a:r>
          </a:p>
        </p:txBody>
      </p:sp>
      <p:sp>
        <p:nvSpPr>
          <p:cNvPr id="117" name="213149…"/>
          <p:cNvSpPr txBox="1"/>
          <p:nvPr/>
        </p:nvSpPr>
        <p:spPr>
          <a:xfrm>
            <a:off x="742966" y="7690781"/>
            <a:ext cx="3741218" cy="1314705"/>
          </a:xfrm>
          <a:prstGeom prst="rect">
            <a:avLst/>
          </a:prstGeom>
          <a:ln w="12700">
            <a:miter lim="400000"/>
          </a:ln>
        </p:spPr>
        <p:txBody>
          <a:bodyPr wrap="none" lIns="50800" tIns="50800" rIns="50800" bIns="50800" anchor="ctr">
            <a:spAutoFit/>
          </a:bodyPr>
          <a:lstStyle/>
          <a:p>
            <a:pPr algn="l">
              <a:defRPr sz="1600">
                <a:solidFill>
                  <a:srgbClr val="FFFFFF"/>
                </a:solidFill>
                <a:latin typeface="Heiti SC Light"/>
                <a:ea typeface="Heiti SC Light"/>
                <a:cs typeface="Heiti SC Light"/>
                <a:sym typeface="Heiti SC Light"/>
              </a:defRPr>
            </a:pPr>
            <a:r>
              <a:t>213149</a:t>
            </a:r>
          </a:p>
          <a:p>
            <a:pPr algn="l">
              <a:defRPr sz="1600">
                <a:solidFill>
                  <a:srgbClr val="FFFFFF"/>
                </a:solidFill>
                <a:latin typeface="Heiti SC Light"/>
                <a:ea typeface="Heiti SC Light"/>
                <a:cs typeface="Heiti SC Light"/>
                <a:sym typeface="Heiti SC Light"/>
              </a:defRPr>
            </a:pPr>
            <a:r>
              <a:t>江苏省常州市武进经济开发区</a:t>
            </a:r>
          </a:p>
          <a:p>
            <a:pPr algn="l">
              <a:defRPr sz="1600">
                <a:solidFill>
                  <a:srgbClr val="FFFFFF"/>
                </a:solidFill>
                <a:latin typeface="Heiti SC Light"/>
                <a:ea typeface="Heiti SC Light"/>
                <a:cs typeface="Heiti SC Light"/>
                <a:sym typeface="Heiti SC Light"/>
              </a:defRPr>
            </a:pPr>
            <a:r>
              <a:t>中国 </a:t>
            </a:r>
          </a:p>
          <a:p>
            <a:pPr algn="l">
              <a:defRPr sz="1600">
                <a:solidFill>
                  <a:srgbClr val="FFFFFF"/>
                </a:solidFill>
                <a:latin typeface="Heiti SC Light"/>
                <a:ea typeface="Heiti SC Light"/>
                <a:cs typeface="Heiti SC Light"/>
                <a:sym typeface="Heiti SC Light"/>
              </a:defRPr>
            </a:pPr>
            <a:endParaRPr/>
          </a:p>
          <a:p>
            <a:pPr algn="l">
              <a:defRPr sz="1600">
                <a:solidFill>
                  <a:srgbClr val="FFFFFF"/>
                </a:solidFill>
                <a:latin typeface="Heiti SC Light"/>
                <a:ea typeface="Heiti SC Light"/>
                <a:cs typeface="Heiti SC Light"/>
                <a:sym typeface="Heiti SC Light"/>
              </a:defRPr>
            </a:pPr>
            <a:r>
              <a:rPr>
                <a:latin typeface="+mn-lt"/>
                <a:ea typeface="+mn-ea"/>
                <a:cs typeface="+mn-cs"/>
                <a:sym typeface="Heiti SC Medium"/>
              </a:rPr>
              <a:t>公司电话：</a:t>
            </a:r>
            <a:r>
              <a:t>0519-85282060/85282061   </a:t>
            </a:r>
          </a:p>
          <a:p>
            <a:pPr algn="l">
              <a:defRPr sz="1600">
                <a:solidFill>
                  <a:srgbClr val="FFFFFF"/>
                </a:solidFill>
                <a:latin typeface="Heiti SC Light"/>
                <a:ea typeface="Heiti SC Light"/>
                <a:cs typeface="Heiti SC Light"/>
                <a:sym typeface="Heiti SC Light"/>
              </a:defRPr>
            </a:pPr>
            <a:r>
              <a:rPr>
                <a:latin typeface="+mn-lt"/>
                <a:ea typeface="+mn-ea"/>
                <a:cs typeface="+mn-cs"/>
                <a:sym typeface="Heiti SC Medium"/>
              </a:rPr>
              <a:t>传真：</a:t>
            </a:r>
            <a:r>
              <a:t>0519-85282062</a:t>
            </a:r>
          </a:p>
        </p:txBody>
      </p:sp>
      <p:sp>
        <p:nvSpPr>
          <p:cNvPr id="118" name="上海孟腾自动化科技有限公司"/>
          <p:cNvSpPr txBox="1"/>
          <p:nvPr/>
        </p:nvSpPr>
        <p:spPr>
          <a:xfrm>
            <a:off x="4756167" y="7013447"/>
            <a:ext cx="2755901" cy="298706"/>
          </a:xfrm>
          <a:prstGeom prst="rect">
            <a:avLst/>
          </a:prstGeom>
          <a:ln w="12700">
            <a:miter lim="400000"/>
          </a:ln>
        </p:spPr>
        <p:txBody>
          <a:bodyPr wrap="none" lIns="50800" tIns="50800" rIns="50800" bIns="50800" anchor="ctr">
            <a:spAutoFit/>
          </a:bodyPr>
          <a:lstStyle>
            <a:lvl1pPr algn="l">
              <a:defRPr sz="1600">
                <a:solidFill>
                  <a:srgbClr val="FFFFFF"/>
                </a:solidFill>
              </a:defRPr>
            </a:lvl1pPr>
          </a:lstStyle>
          <a:p>
            <a:r>
              <a:t>上海孟腾自动化科技有限公司</a:t>
            </a:r>
          </a:p>
        </p:txBody>
      </p:sp>
      <p:sp>
        <p:nvSpPr>
          <p:cNvPr id="119" name="201700…"/>
          <p:cNvSpPr txBox="1"/>
          <p:nvPr/>
        </p:nvSpPr>
        <p:spPr>
          <a:xfrm>
            <a:off x="4756167" y="7542319"/>
            <a:ext cx="2755902" cy="1332230"/>
          </a:xfrm>
          <a:prstGeom prst="rect">
            <a:avLst/>
          </a:prstGeom>
          <a:ln w="12700">
            <a:miter lim="400000"/>
          </a:ln>
        </p:spPr>
        <p:txBody>
          <a:bodyPr wrap="square" lIns="50800" tIns="50800" rIns="50800" bIns="50800" anchor="ctr">
            <a:spAutoFit/>
          </a:bodyPr>
          <a:lstStyle/>
          <a:p>
            <a:pPr algn="l">
              <a:defRPr sz="1600">
                <a:solidFill>
                  <a:srgbClr val="FFFFFF"/>
                </a:solidFill>
                <a:latin typeface="Heiti SC Light"/>
                <a:ea typeface="Heiti SC Light"/>
                <a:cs typeface="Heiti SC Light"/>
                <a:sym typeface="Heiti SC Light"/>
              </a:defRPr>
            </a:pPr>
            <a:r>
              <a:rPr dirty="0"/>
              <a:t>201700</a:t>
            </a:r>
          </a:p>
          <a:p>
            <a:pPr algn="l">
              <a:defRPr sz="1600">
                <a:solidFill>
                  <a:srgbClr val="FFFFFF"/>
                </a:solidFill>
                <a:latin typeface="Heiti SC Light"/>
                <a:ea typeface="Heiti SC Light"/>
                <a:cs typeface="Heiti SC Light"/>
                <a:sym typeface="Heiti SC Light"/>
              </a:defRPr>
            </a:pPr>
            <a:r>
              <a:rPr dirty="0"/>
              <a:t>上海市青浦区新水路85号</a:t>
            </a:r>
          </a:p>
          <a:p>
            <a:pPr algn="l">
              <a:defRPr sz="1600">
                <a:solidFill>
                  <a:srgbClr val="FFFFFF"/>
                </a:solidFill>
                <a:latin typeface="Heiti SC Light"/>
                <a:ea typeface="Heiti SC Light"/>
                <a:cs typeface="Heiti SC Light"/>
                <a:sym typeface="Heiti SC Light"/>
              </a:defRPr>
            </a:pPr>
            <a:r>
              <a:rPr dirty="0" err="1"/>
              <a:t>中国</a:t>
            </a:r>
            <a:r>
              <a:rPr dirty="0"/>
              <a:t> </a:t>
            </a:r>
          </a:p>
          <a:p>
            <a:pPr algn="l">
              <a:defRPr sz="1600">
                <a:solidFill>
                  <a:srgbClr val="FFFFFF"/>
                </a:solidFill>
                <a:latin typeface="Heiti SC Light"/>
                <a:ea typeface="Heiti SC Light"/>
                <a:cs typeface="Heiti SC Light"/>
                <a:sym typeface="Heiti SC Light"/>
              </a:defRPr>
            </a:pPr>
            <a:endParaRPr dirty="0"/>
          </a:p>
          <a:p>
            <a:pPr algn="l">
              <a:defRPr sz="1600">
                <a:solidFill>
                  <a:srgbClr val="FFFFFF"/>
                </a:solidFill>
                <a:latin typeface="Heiti SC Light"/>
                <a:ea typeface="Heiti SC Light"/>
                <a:cs typeface="Heiti SC Light"/>
                <a:sym typeface="Heiti SC Light"/>
              </a:defRPr>
            </a:pPr>
            <a:endParaRPr dirty="0"/>
          </a:p>
        </p:txBody>
      </p:sp>
      <p:pic>
        <p:nvPicPr>
          <p:cNvPr id="120" name="图像" descr="图像"/>
          <p:cNvPicPr>
            <a:picLocks noChangeAspect="1"/>
          </p:cNvPicPr>
          <p:nvPr/>
        </p:nvPicPr>
        <p:blipFill>
          <a:blip r:embed="rId2"/>
          <a:stretch>
            <a:fillRect/>
          </a:stretch>
        </p:blipFill>
        <p:spPr>
          <a:xfrm>
            <a:off x="10169849" y="6838215"/>
            <a:ext cx="2342503" cy="2342503"/>
          </a:xfrm>
          <a:prstGeom prst="rect">
            <a:avLst/>
          </a:prstGeom>
          <a:ln w="12700">
            <a:miter lim="400000"/>
            <a:headEnd/>
            <a:tailEnd/>
          </a:ln>
        </p:spPr>
      </p:pic>
    </p:spTree>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KSO_WPP_MARK_KEY" val="bc03f321-4ee2-4b2a-85ad-795492995e09"/>
  <p:tag name="COMMONDATA" val="eyJoZGlkIjoiMTZjYTdiNGNiN2ZjNWNjZDI0NjA4ODRiYTY2M2I2YTYifQ=="/>
</p:tagLst>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iti SC Medium"/>
        <a:ea typeface="Heiti SC Medium"/>
        <a:cs typeface="Heiti SC Medium"/>
      </a:majorFont>
      <a:minorFont>
        <a:latin typeface="Heiti SC Medium"/>
        <a:ea typeface="Heiti SC Medium"/>
        <a:cs typeface="Heiti SC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defRPr kumimoji="0" sz="2200" b="0" i="0" u="none" strike="noStrike" cap="none" spc="0" normalizeH="0" baseline="0">
            <a:ln>
              <a:noFill/>
            </a:ln>
            <a:solidFill>
              <a:srgbClr val="FFFFFF"/>
            </a:solidFill>
            <a:effectLst/>
            <a:uFillTx/>
            <a:latin typeface="+mn-lt"/>
            <a:ea typeface="+mn-ea"/>
            <a:cs typeface="+mn-cs"/>
            <a:sym typeface="Heiti SC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iti SC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iti SC Medium"/>
        <a:ea typeface="Heiti SC Medium"/>
        <a:cs typeface="Heiti SC Medium"/>
      </a:majorFont>
      <a:minorFont>
        <a:latin typeface="Heiti SC Medium"/>
        <a:ea typeface="Heiti SC Medium"/>
        <a:cs typeface="Heiti SC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defRPr kumimoji="0" sz="2200" b="0" i="0" u="none" strike="noStrike" cap="none" spc="0" normalizeH="0" baseline="0">
            <a:ln>
              <a:noFill/>
            </a:ln>
            <a:solidFill>
              <a:srgbClr val="FFFFFF"/>
            </a:solidFill>
            <a:effectLst/>
            <a:uFillTx/>
            <a:latin typeface="+mn-lt"/>
            <a:ea typeface="+mn-ea"/>
            <a:cs typeface="+mn-cs"/>
            <a:sym typeface="Heiti SC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rgbClr val="000000"/>
          </a:solidFill>
          <a:prstDash val="solid"/>
          <a:miter lim="4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000000"/>
            </a:solidFill>
            <a:effectLst/>
            <a:uFillTx/>
            <a:latin typeface="+mn-lt"/>
            <a:ea typeface="+mn-ea"/>
            <a:cs typeface="+mn-cs"/>
            <a:sym typeface="Heiti SC Medium"/>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3924</TotalTime>
  <Words>2824</Words>
  <Application>Microsoft Office PowerPoint</Application>
  <PresentationFormat>自定义</PresentationFormat>
  <Paragraphs>225</Paragraphs>
  <Slides>30</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30</vt:i4>
      </vt:variant>
    </vt:vector>
  </HeadingPairs>
  <TitlesOfParts>
    <vt:vector size="34" baseType="lpstr">
      <vt:lpstr>Heiti SC Light</vt:lpstr>
      <vt:lpstr>Heiti SC Medium</vt:lpstr>
      <vt:lpstr>Arial</vt:lpstr>
      <vt:lpstr>White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张贵江</dc:creator>
  <cp:lastModifiedBy>杰 杨</cp:lastModifiedBy>
  <cp:revision>228</cp:revision>
  <dcterms:created xsi:type="dcterms:W3CDTF">2021-12-31T06:55:00Z</dcterms:created>
  <dcterms:modified xsi:type="dcterms:W3CDTF">2024-12-19T16:07:25Z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5F99462EA2074DFEB11A1F426C9ADCDC</vt:lpwstr>
  </property>
  <property fmtid="{D5CDD505-2E9C-101B-9397-08002B2CF9AE}" pid="3" name="KSOProductBuildVer">
    <vt:lpwstr>2052-11.1.0.11636</vt:lpwstr>
  </property>
</Properties>
</file>